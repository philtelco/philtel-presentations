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unknown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303" r:id="rId5"/>
    <p:sldId id="304" r:id="rId6"/>
    <p:sldId id="307" r:id="rId7"/>
    <p:sldId id="308" r:id="rId8"/>
    <p:sldId id="309" r:id="rId9"/>
    <p:sldId id="318" r:id="rId10"/>
    <p:sldId id="310" r:id="rId11"/>
    <p:sldId id="313" r:id="rId12"/>
    <p:sldId id="314" r:id="rId13"/>
    <p:sldId id="315" r:id="rId14"/>
    <p:sldId id="316" r:id="rId15"/>
    <p:sldId id="311" r:id="rId16"/>
    <p:sldId id="320" r:id="rId17"/>
    <p:sldId id="312" r:id="rId18"/>
    <p:sldId id="317" r:id="rId19"/>
    <p:sldId id="319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6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33406-E4C5-4F90-B2F4-FE6C183A884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F96C1-65CB-4207-BEFB-983765C8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9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98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3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18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0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364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22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38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263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02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404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296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841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F96C1-65CB-4207-BEFB-983765C847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9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1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5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7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5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3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4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7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2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6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7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e.usamobility.ne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rLinked1/lbb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ampager.de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support.hampager.d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hyperlink" Target="radioid.ne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d-radio.solutions/notes_unipager" TargetMode="External"/><Relationship Id="rId5" Type="http://schemas.openxmlformats.org/officeDocument/2006/relationships/hyperlink" Target="https://github.com/thotypous/gm300-dosbox" TargetMode="External"/><Relationship Id="rId4" Type="http://schemas.openxmlformats.org/officeDocument/2006/relationships/hyperlink" Target="https://www.repeater-builder.com/motorola/maxtrac/gm300-info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73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nterLinked1" TargetMode="External"/><Relationship Id="rId3" Type="http://schemas.openxmlformats.org/officeDocument/2006/relationships/hyperlink" Target="mailto:mike@philtel.org" TargetMode="External"/><Relationship Id="rId7" Type="http://schemas.openxmlformats.org/officeDocument/2006/relationships/hyperlink" Target="https://interlinked.us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interlinked@philtel.org" TargetMode="External"/><Relationship Id="rId11" Type="http://schemas.openxmlformats.org/officeDocument/2006/relationships/hyperlink" Target="https://github.com/philtelco/philtel-presentations/bsides-philly-2023" TargetMode="External"/><Relationship Id="rId5" Type="http://schemas.openxmlformats.org/officeDocument/2006/relationships/hyperlink" Target="https://github.com/Famicoman" TargetMode="External"/><Relationship Id="rId10" Type="http://schemas.openxmlformats.org/officeDocument/2006/relationships/hyperlink" Target="https://philtel.org/donate/" TargetMode="External"/><Relationship Id="rId4" Type="http://schemas.openxmlformats.org/officeDocument/2006/relationships/hyperlink" Target="https://famicoman.com/" TargetMode="External"/><Relationship Id="rId9" Type="http://schemas.openxmlformats.org/officeDocument/2006/relationships/hyperlink" Target="https://philtel.org/contac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Paging in </a:t>
            </a:r>
            <a:r>
              <a:rPr lang="en-US" dirty="0" smtClean="0">
                <a:latin typeface="Franklin Gothic Medium" panose="020B0603020102020204" pitchFamily="34" charset="0"/>
              </a:rPr>
              <a:t>2026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From current carriers to OSS and hobbyist networks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0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Agenda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Who are we?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is a pager?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Paging Protocols 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TAP/IXO and Motorola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AlphaMate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How the Media Gets It Wrong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Providers and Consolidation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Current Support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Security Considerations</a:t>
            </a:r>
            <a:endParaRPr lang="en-US" sz="20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Paging in OSS, looking at LBBS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DAPNET – Paging for Radio Amateurs</a:t>
            </a: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Who are You?</a:t>
            </a:r>
            <a:endParaRPr lang="en-US" sz="3300" spc="-1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580608" y="1493149"/>
            <a:ext cx="4063929" cy="4443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Mike</a:t>
            </a:r>
            <a:endParaRPr lang="en-US" sz="2000" spc="-1" dirty="0">
              <a:latin typeface="Franklin Gothic Medium" panose="020B0603020102020204" pitchFamily="34" charset="0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Software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Engineer</a:t>
            </a:r>
            <a:endParaRPr lang="en-US" sz="2000" spc="-1" dirty="0">
              <a:latin typeface="Franklin Gothic Medium" panose="020B0603020102020204" pitchFamily="34" charset="0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PhilTel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 (2022-)</a:t>
            </a:r>
            <a:endParaRPr lang="en-US" sz="2000" spc="-1" dirty="0">
              <a:latin typeface="Franklin Gothic Medium" panose="020B0603020102020204" pitchFamily="34" charset="0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Networks of Philly (2018-)</a:t>
            </a:r>
            <a:endParaRPr lang="en-US" sz="2000" spc="-1" dirty="0">
              <a:latin typeface="Franklin Gothic Medium" panose="020B0603020102020204" pitchFamily="34" charset="0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Dialup.world</a:t>
            </a:r>
            <a:r>
              <a:rPr lang="en-US" sz="2000" spc="-1" dirty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 (2021-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 panose="020B0603020102020204" pitchFamily="34" charset="0"/>
                <a:ea typeface="DejaVu Sans"/>
              </a:rPr>
              <a:t>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Radio Amateur (2018-)</a:t>
            </a:r>
            <a:endParaRPr lang="en-US" sz="2000" spc="-1" dirty="0">
              <a:latin typeface="Franklin Gothic Medium" panose="020B0603020102020204" pitchFamily="34" charset="0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4669355" y="1493150"/>
            <a:ext cx="4205326" cy="47697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Naveen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Computer engineer, IT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Telecommunications/software consultant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Communications activist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Projects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Payphone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scanning (2019-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)</a:t>
            </a: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</a:rPr>
              <a:t>PhreakNet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(2021-)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</a:rPr>
              <a:t>PhilTel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(2022-)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LBBS (2023-)</a:t>
            </a: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0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is a pager?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036" y="1447800"/>
            <a:ext cx="4961133" cy="381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1564" y="228600"/>
            <a:ext cx="1921441" cy="3200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644" t="9545" r="31010"/>
          <a:stretch/>
        </p:blipFill>
        <p:spPr>
          <a:xfrm>
            <a:off x="7162800" y="3523530"/>
            <a:ext cx="1522482" cy="25259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4876800"/>
            <a:ext cx="2209800" cy="156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3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Common (RF) Paging Protocols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3704"/>
              </p:ext>
            </p:extLst>
          </p:nvPr>
        </p:nvGraphicFramePr>
        <p:xfrm>
          <a:off x="914400" y="1397000"/>
          <a:ext cx="72390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771"/>
                <a:gridCol w="2732795"/>
                <a:gridCol w="25874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Protocol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Tone-Only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Bellboy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“Three-Reed”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Motorola Pageboy</a:t>
                      </a:r>
                    </a:p>
                    <a:p>
                      <a:r>
                        <a:rPr lang="en-US" dirty="0" smtClean="0"/>
                        <a:t>Motorola Pageboy II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2-Tone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Voice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Motorola </a:t>
                      </a:r>
                      <a:r>
                        <a:rPr lang="en-US" dirty="0" err="1" smtClean="0"/>
                        <a:t>Minitor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Unication</a:t>
                      </a:r>
                      <a:r>
                        <a:rPr lang="en-US" baseline="0" dirty="0" smtClean="0"/>
                        <a:t> 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5/6-Tone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Numeric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Motorola Bravo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POCSAG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Alphanumeric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Apollo 202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Sun Telecom T5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FLEX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Two-Way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Motorola </a:t>
                      </a:r>
                      <a:r>
                        <a:rPr lang="en-US" dirty="0" err="1" smtClean="0"/>
                        <a:t>PageWriter</a:t>
                      </a:r>
                      <a:r>
                        <a:rPr lang="en-US" dirty="0" smtClean="0"/>
                        <a:t> 2000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ReFLEX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64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838200" y="2362199"/>
            <a:ext cx="5823898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How Do Alphanumeric Pages Get Submitted?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1"/>
          <p:cNvSpPr/>
          <p:nvPr/>
        </p:nvSpPr>
        <p:spPr>
          <a:xfrm>
            <a:off x="762000" y="3761461"/>
            <a:ext cx="5823898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(Hint: Not by Telephone!)</a:t>
            </a:r>
            <a:endParaRPr lang="en-US" sz="33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70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Telocator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Alphanumeric Protocol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4135791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7E1 300 baud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serial/modem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protocol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Initially “Motorola Page Entry”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Standardized as TAP/IXO in 1988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Motorola AlphaMate is the most common (physical) TAP client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3" b="18886"/>
          <a:stretch/>
        </p:blipFill>
        <p:spPr>
          <a:xfrm>
            <a:off x="1610085" y="3775486"/>
            <a:ext cx="2961304" cy="209191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756319"/>
              </p:ext>
            </p:extLst>
          </p:nvPr>
        </p:nvGraphicFramePr>
        <p:xfrm>
          <a:off x="4724399" y="1203960"/>
          <a:ext cx="4114800" cy="484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5570">
                <a:tc>
                  <a:txBody>
                    <a:bodyPr/>
                    <a:lstStyle/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&lt;CR&gt;</a:t>
                      </a: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&lt;ESC&gt;PG1&lt;CR&gt;</a:t>
                      </a: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&lt;STX&gt;123&lt;CR&gt;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ABC&lt;CR&gt;</a:t>
                      </a: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&lt;ETX&gt;17;&lt;CR&gt;</a:t>
                      </a: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&lt;EOT&gt;&lt;CR&gt;</a:t>
                      </a: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(Carrier Drop)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(Modem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answers)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ID=</a:t>
                      </a: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 1.8&lt;CR&gt;</a:t>
                      </a: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Welcome&lt;CR&gt;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&lt;ACK&gt;&lt;CR&gt;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211 Page accepted&lt;CR&gt;</a:t>
                      </a: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&lt;ACK&gt;&lt;CR&gt;</a:t>
                      </a: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115 Goodbye&lt;CR&gt;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&lt;ESC&gt;&lt;EOT&gt;&lt;CR&gt;</a:t>
                      </a: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(Carrier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Drop)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495800"/>
            <a:ext cx="1614297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840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Simple Network Paging Protocol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3047999" cy="495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RFC 1861 (Oct. 1995)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</a:rPr>
              <a:t>SMTP-like, with enhancements specific to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paging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Evolution from TAP, designed for IP-based environments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N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ew capabilities for 2WAY paging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Assigned TCP port 444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Most providers only implemented the basic (1-way) paging commands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204756"/>
              </p:ext>
            </p:extLst>
          </p:nvPr>
        </p:nvGraphicFramePr>
        <p:xfrm>
          <a:off x="3810000" y="1572466"/>
          <a:ext cx="502920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25240">
                <a:tc>
                  <a:txBody>
                    <a:bodyPr/>
                    <a:lstStyle/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5551212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MESS Your network is hosed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SEND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QUIT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220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SNPP Gateway Ready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250 Pager ID Accepted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250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Message OK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250 Message Sent</a:t>
                      </a:r>
                    </a:p>
                    <a:p>
                      <a:endParaRPr lang="en-US" sz="1600" baseline="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221 Goodbye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61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Media (Almost Always) Gets It Wrong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8151881" cy="495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  <p:pic>
        <p:nvPicPr>
          <p:cNvPr id="5" name="Columbo_Gotch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3102" y="1534952"/>
            <a:ext cx="7500298" cy="4218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103" y="5943600"/>
            <a:ext cx="7728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Franklin Gothic Medium" panose="020B0603020102020204" pitchFamily="34" charset="0"/>
              </a:rPr>
              <a:t>SPOILER ALERT: </a:t>
            </a:r>
            <a:r>
              <a:rPr lang="en-US" sz="1400" dirty="0" smtClean="0">
                <a:latin typeface="Franklin Gothic Medium" panose="020B0603020102020204" pitchFamily="34" charset="0"/>
              </a:rPr>
              <a:t>excerpt from ending of </a:t>
            </a:r>
            <a:r>
              <a:rPr lang="en-US" sz="1400" i="1" dirty="0" err="1" smtClean="0">
                <a:latin typeface="Franklin Gothic Medium" panose="020B0603020102020204" pitchFamily="34" charset="0"/>
              </a:rPr>
              <a:t>Columbo</a:t>
            </a:r>
            <a:r>
              <a:rPr lang="en-US" sz="1400" dirty="0" smtClean="0">
                <a:latin typeface="Franklin Gothic Medium" panose="020B0603020102020204" pitchFamily="34" charset="0"/>
              </a:rPr>
              <a:t> S9E2: </a:t>
            </a:r>
            <a:r>
              <a:rPr lang="en-US" sz="1400" i="1" dirty="0" err="1" smtClean="0">
                <a:latin typeface="Franklin Gothic Medium" panose="020B0603020102020204" pitchFamily="34" charset="0"/>
              </a:rPr>
              <a:t>Columbo</a:t>
            </a:r>
            <a:r>
              <a:rPr lang="en-US" sz="1400" i="1" dirty="0" smtClean="0">
                <a:latin typeface="Franklin Gothic Medium" panose="020B0603020102020204" pitchFamily="34" charset="0"/>
              </a:rPr>
              <a:t> Cries Wolf </a:t>
            </a:r>
            <a:r>
              <a:rPr lang="en-US" sz="1400" dirty="0" smtClean="0">
                <a:latin typeface="Franklin Gothic Medium" panose="020B0603020102020204" pitchFamily="34" charset="0"/>
              </a:rPr>
              <a:t>(1990)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Current Paging Ecosystem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914400" y="1295399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Most nationwide paging has consolidated to a couple providers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Spok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– largest “nationwide” provider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Formed by merged of USA Mobility and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Amcom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Software in 2014</a:t>
            </a:r>
          </a:p>
          <a:p>
            <a:pPr marL="1763426" lvl="3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USA Mobility &lt;- Arch Wireless +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Pagenet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Serves 2,200 hospitals / over 70 million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msg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/month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$139 million in annual revenue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Different coverage plans – local (state), regional, and “nationwide”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Two-way paging is rare and less available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Still many regional providers throughout the country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e.g. Range Paging in Minnesota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69" t="38691" r="36462" b="5667"/>
          <a:stretch/>
        </p:blipFill>
        <p:spPr>
          <a:xfrm>
            <a:off x="381000" y="2971800"/>
            <a:ext cx="1421291" cy="6330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33600"/>
            <a:ext cx="1485900" cy="61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1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Local Coverage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914400" y="1295399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36797"/>
            <a:ext cx="752475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892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Nationwide Coverage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914400" y="1295399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02" y="1295399"/>
            <a:ext cx="6819481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69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(Nationwide) Two-Way Coverage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914400" y="1295399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02" y="1295399"/>
            <a:ext cx="6915150" cy="49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606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Local vs. Nationwide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914400" y="1295399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8" t="46077" r="15778"/>
          <a:stretch/>
        </p:blipFill>
        <p:spPr bwMode="auto">
          <a:xfrm>
            <a:off x="653103" y="1219200"/>
            <a:ext cx="5138098" cy="2336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59" t="59543" r="-1"/>
          <a:stretch/>
        </p:blipFill>
        <p:spPr bwMode="auto">
          <a:xfrm>
            <a:off x="653102" y="3576924"/>
            <a:ext cx="5138099" cy="28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49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Current Paging Protocol Support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Most providers accept all paging submission protocols in existence, despite claiming not to support “legacy” methods anymore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</a:rPr>
              <a:t>Spok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accepts: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Numeric messages by voice at the 10-digit pager number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Messages by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TAP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at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1-800-946-4644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(7E1, 300)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Message by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SNPP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at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snpp.usamobility.net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Messages by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SMTP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usamobility.net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Messages by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</a:rPr>
              <a:t>SMS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at the 10-digit pager number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Messages via online form at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hlinkClick r:id="rId3"/>
              </a:rPr>
              <a:t>https://secure.usamobility.net</a:t>
            </a: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9903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Protocol Speed Comparison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696273"/>
              </p:ext>
            </p:extLst>
          </p:nvPr>
        </p:nvGraphicFramePr>
        <p:xfrm>
          <a:off x="653102" y="1981200"/>
          <a:ext cx="7652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175"/>
                <a:gridCol w="1913175"/>
                <a:gridCol w="1913175"/>
                <a:gridCol w="1913175"/>
              </a:tblGrid>
              <a:tr h="508000">
                <a:tc>
                  <a:txBody>
                    <a:bodyPr/>
                    <a:lstStyle/>
                    <a:p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SNPP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SMTP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TAP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Min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5.23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9.23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5.86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Mean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9.46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17.05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12.37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Median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8.76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15.68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smtClean="0">
                          <a:latin typeface="Franklin Gothic Medium" panose="020B0603020102020204" pitchFamily="34" charset="0"/>
                        </a:rPr>
                        <a:t>10.8</a:t>
                      </a:r>
                      <a:endParaRPr lang="en-US" sz="2000" b="1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Max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18.33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29.22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20.81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Range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13.1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19.99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>
                          <a:latin typeface="Franklin Gothic Medium" panose="020B0603020102020204" pitchFamily="34" charset="0"/>
                        </a:rPr>
                        <a:t>14.95</a:t>
                      </a:r>
                      <a:endParaRPr lang="en-US" sz="2000" dirty="0">
                        <a:latin typeface="Franklin Gothic Medium" panose="020B06030201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102" y="5656705"/>
            <a:ext cx="77288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Franklin Gothic Medium" panose="020B0603020102020204" pitchFamily="34" charset="0"/>
              </a:rPr>
              <a:t>https://blog.interlinked.us/88/paging-all-pagers-the-many-methods-of-alphanumeric-paging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903" y="1295400"/>
            <a:ext cx="765269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Franklin Gothic Medium" panose="020B0603020102020204" pitchFamily="34" charset="0"/>
              </a:rPr>
              <a:t>Time from protocol-level page acknowledgment to receipt by pager (in sec.)</a:t>
            </a:r>
            <a:endParaRPr lang="en-US" b="1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15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Security Considerations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</a:rPr>
              <a:t>Spok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supports encrypted paging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e.g. Sun Telecom T5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Encrypts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payload over RF so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only intended pager can decode message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</a:rPr>
              <a:t>Spok’s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security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itself is… not the best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Usually the name and pager number is all that is required to change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the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coverage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647180"/>
            <a:ext cx="7086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Franklin Gothic Medium" panose="020B0603020102020204" pitchFamily="34" charset="0"/>
              </a:rPr>
              <a:t>https://blog.interlinked.us/92/protecting-yourself-from-paging-coverage-attacks</a:t>
            </a:r>
          </a:p>
        </p:txBody>
      </p:sp>
    </p:spTree>
    <p:extLst>
      <p:ext uri="{BB962C8B-B14F-4D97-AF65-F5344CB8AC3E}">
        <p14:creationId xmlns:p14="http://schemas.microsoft.com/office/powerpoint/2010/main" val="71623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Paging support in LBBS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8" name="CustomShape 2"/>
          <p:cNvSpPr/>
          <p:nvPr/>
        </p:nvSpPr>
        <p:spPr>
          <a:xfrm>
            <a:off x="533401" y="1295400"/>
            <a:ext cx="7696199" cy="4361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LBBS = open-source BBS package for Linux that I maintain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Added support for common paging submission methods: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TAP/IXO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SNPP (with STARTTLS)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SMTP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Configurable paging plans to accept pages from one protocol and relay it via another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Can use it to accept pages and relay them to your “real” provider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hlinkClick r:id="rId3"/>
              </a:rPr>
              <a:t>https://github.com/InterLinked1/lbbs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&lt;-- check it out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</a:rPr>
              <a:t>mod_paging.conf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</a:rPr>
              <a:t> provides documentation of paging support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293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Can we run our own pagers?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sp>
        <p:nvSpPr>
          <p:cNvPr id="5" name="AutoShape 2" descr="The Hacker Pager | exploitee.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https://hackerpager.net/dc34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https://hackerpager.net/dc34.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84" y="2023502"/>
            <a:ext cx="4767733" cy="34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60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What is DAPNET?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ecentralized </a:t>
            </a: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A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mateur </a:t>
            </a: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P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aging </a:t>
            </a: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Net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work 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F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ree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, global,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ham-radio-operated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Grew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out of the early-2000s "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FunkrufMaster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" project (AX.25/Packet Radio) at RWTH Aachen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University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Modern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successor built for the HAMNET/IP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era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Uses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standard POCSAG protocol 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Same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as commercial paging, but legally run by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volunteers</a:t>
            </a:r>
          </a:p>
          <a:p>
            <a:pPr marL="3918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  <a:hlinkClick r:id="rId3"/>
              </a:rPr>
              <a:t>https://hampager.de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3"/>
              </a:rPr>
              <a:t>/</a:t>
            </a:r>
            <a:endParaRPr lang="en-US" sz="20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1026" name="Picture 2" descr="File:DAPNET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724399"/>
            <a:ext cx="4276739" cy="96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61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How it's structured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Network of I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nternet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and HAMNET-linked transmitters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worldwide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HAMNET is a cool topic in itself, but out-of-scope for this talk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Each transmitter can cover miles, most just a small area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Recommended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frequency: </a:t>
            </a: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439.9875 MHz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(70cm amateur band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Not </a:t>
            </a: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one big tower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— a mesh of small, hobbyist-run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sites</a:t>
            </a:r>
            <a:endParaRPr lang="en-US" sz="20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1026" name="Picture 2" descr="File:DAPNET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724399"/>
            <a:ext cx="4276739" cy="96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0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How to use it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Requires a valid amateur radio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license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Messages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sent via web portal, Android/iOS apps, or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API/integrations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Receive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on POCSAG-capable pagers (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Skyper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, 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AlphaPOC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are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popular)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OR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SDR-adjacent tools like Flipper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Zero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Get an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Account: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  <a:hlinkClick r:id="rId3" action="ppaction://hlinkfile"/>
              </a:rPr>
              <a:t>support.hampager.de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→ "New DAPNET account with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RIC“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Need a DMR ID (get one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at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  <a:hlinkClick r:id="rId4" action="ppaction://hlinkfile"/>
              </a:rPr>
              <a:t>radioid.net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) — forms part of your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RIC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Processing takes several days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6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Picking a Pager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AlphaPoc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is the most popular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Their pagers are ~$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125, sold from EU, often sold out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Generic versions are $70 on eBay, seller confirms frequency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Hand-program with your RIC, group RICs if you want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Other pagers are supported, even vintage ones with caveats…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2050" name="Picture 2" descr="Carousel It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03" y="3657600"/>
            <a:ext cx="2699697" cy="269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Black programmable POCSAG pager with green display showing time 4:33.92 and date 13/12/2013, labeled “Emergency Text Receiver.”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886200"/>
            <a:ext cx="2862742" cy="23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6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Transmitters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59762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If a transmitter covers your area already, you’re done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One probably doesn’t,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though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Submit a second ticket: "New DAPNET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Transmitter“…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Most people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use Raspberry Pi + </a:t>
            </a: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MMDVM modem </a:t>
            </a:r>
            <a:endParaRPr lang="en-US" sz="2000" b="1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ame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hardware many hams already have for DMR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hotspots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Low cost: $30, Low power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: 10 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milliwatts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Use </a:t>
            </a:r>
            <a:r>
              <a:rPr lang="en-US" sz="2000" b="1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unipager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(or Pi-Star's built-in DAPNET/POCSAG support)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5122" name="Picture 2" descr="Green New Duplex MMDVM Hotspot P25 DMR YSF for Raspberry Pi with black antenna and gold connector pins on boar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75974"/>
            <a:ext cx="2435157" cy="298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48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Black Motorola VHF M33GMC2C2AA Radius GM300 radio with digital display, labeled buttons, and antenn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506" y="3653590"/>
            <a:ext cx="3641557" cy="273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Transmitters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8032179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I’m not most people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Let’s use an old Motorola GM300 (MX4XXXXXX3XX)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333333"/>
                </a:solidFill>
                <a:latin typeface="Franklin Gothic Medium"/>
                <a:ea typeface="DejaVu Sans"/>
                <a:hlinkClick r:id="rId4"/>
              </a:rPr>
              <a:t>https://www.repeater-builder.com/motorola/maxtrac/gm300-info.html</a:t>
            </a:r>
            <a:endParaRPr lang="en-US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My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M44GMC29C3AA is a $30 radio that outputs 40 watts!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Program it with a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DOSBox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Docker container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333333"/>
                </a:solidFill>
                <a:latin typeface="Franklin Gothic Medium"/>
                <a:ea typeface="DejaVu Sans"/>
                <a:hlinkClick r:id="rId5"/>
              </a:rPr>
              <a:t>https://</a:t>
            </a:r>
            <a:r>
              <a:rPr lang="en-US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5"/>
              </a:rPr>
              <a:t>github.com/thotypous/gm300-dosbox</a:t>
            </a:r>
            <a:endParaRPr lang="en-US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333333"/>
                </a:solidFill>
                <a:latin typeface="Franklin Gothic Medium"/>
                <a:ea typeface="DejaVu Sans"/>
                <a:hlinkClick r:id="rId6"/>
              </a:rPr>
              <a:t>https://bad-radio.solutions/notes_unipager</a:t>
            </a:r>
            <a:endParaRPr lang="en-US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Will need programming cable(s)!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2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Running </a:t>
            </a: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unipager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8032179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We need a way to run </a:t>
            </a:r>
            <a:r>
              <a:rPr lang="en-US" sz="20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unipager</a:t>
            </a:r>
            <a:endParaRPr lang="en-US" sz="2000" b="1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Raspberry Pi 2, use the release binary from GitHub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Need audio and PTT trigger, use three inexpensive components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703" y="2971800"/>
            <a:ext cx="4411579" cy="3308684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35418"/>
            <a:ext cx="3954505" cy="298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54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Running </a:t>
            </a: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unipager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8032179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Access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unipager’s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webui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at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3"/>
              </a:rPr>
              <a:t>http://localhost:8073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Has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websocket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for mobile apps, cli tool, etc.</a:t>
            </a:r>
          </a:p>
          <a:p>
            <a:pPr marL="555810" lvl="1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8194" name="Picture 2" descr="https://hampager.de/dokuwiki/lib/exe/fetch.php?media=unipager:uni_webinterfac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98342"/>
            <a:ext cx="7420992" cy="388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5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Let’s test it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8032179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  <p:pic>
        <p:nvPicPr>
          <p:cNvPr id="6" name="My_Movie_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3400" y="1295400"/>
            <a:ext cx="81343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9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Questions?</a:t>
            </a:r>
            <a:endParaRPr lang="en-US" sz="3300" spc="-1"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580608" y="1493149"/>
            <a:ext cx="4063929" cy="4443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Mike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3"/>
              </a:rPr>
              <a:t>mike@philtel.org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Famicoman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(</a:t>
            </a: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Libera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IRC)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4"/>
              </a:rPr>
              <a:t>https://famicoman.com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5"/>
              </a:rPr>
              <a:t>https://github.com/Famicoman</a:t>
            </a: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4810752" y="1493149"/>
            <a:ext cx="4063929" cy="4443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Naveen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6"/>
              </a:rPr>
              <a:t>interlinked@philtel.org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InterLinked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(</a:t>
            </a: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Libera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IRC)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7"/>
              </a:rPr>
              <a:t>https://interlinked.us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8"/>
              </a:rPr>
              <a:t>https://github.com/InterLinked1</a:t>
            </a: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</p:txBody>
      </p:sp>
      <p:sp>
        <p:nvSpPr>
          <p:cNvPr id="5" name="CustomShape 2"/>
          <p:cNvSpPr/>
          <p:nvPr/>
        </p:nvSpPr>
        <p:spPr>
          <a:xfrm>
            <a:off x="424800" y="3888095"/>
            <a:ext cx="8260482" cy="2221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ctr">
              <a:spcAft>
                <a:spcPts val="1005"/>
              </a:spcAft>
            </a:pPr>
            <a:endParaRPr lang="en-US" sz="2200" spc="-1" dirty="0">
              <a:latin typeface="Franklin Gothic Medium" panose="020B0603020102020204" pitchFamily="34" charset="0"/>
              <a:hlinkClick r:id="rId9"/>
            </a:endParaRPr>
          </a:p>
          <a:p>
            <a:pPr algn="ctr">
              <a:spcAft>
                <a:spcPts val="1005"/>
              </a:spcAft>
            </a:pPr>
            <a:r>
              <a:rPr lang="en-US" sz="2200" spc="-1" dirty="0">
                <a:latin typeface="Franklin Gothic Medium" panose="020B0603020102020204" pitchFamily="34" charset="0"/>
                <a:hlinkClick r:id="rId9"/>
              </a:rPr>
              <a:t>https://philtel.org/contact/</a:t>
            </a:r>
            <a:endParaRPr lang="en-US" sz="22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r>
              <a:rPr lang="en-US" sz="2200" spc="-1" dirty="0">
                <a:latin typeface="Franklin Gothic Medium" panose="020B0603020102020204" pitchFamily="34" charset="0"/>
                <a:hlinkClick r:id="rId10"/>
              </a:rPr>
              <a:t>https://philtel.org/donate/</a:t>
            </a:r>
            <a:endParaRPr lang="en-US" sz="22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r>
              <a:rPr lang="en-US" sz="2200" spc="-1" dirty="0">
                <a:latin typeface="Franklin Gothic Medium" panose="020B0603020102020204" pitchFamily="34" charset="0"/>
                <a:hlinkClick r:id="rId11"/>
              </a:rPr>
              <a:t>https://github.com/philtelco/philtel-presentations/</a:t>
            </a:r>
            <a:endParaRPr lang="en-US" sz="22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endParaRPr lang="en-US" sz="29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endParaRPr lang="en-US" sz="2900" spc="-1" dirty="0">
              <a:latin typeface="Franklin Gothic Medium" panose="020B06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0x3 - 2026-10-18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808000"/>
      </a:dk1>
      <a:lt1>
        <a:sysClr val="window" lastClr="30363D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808000"/>
      </a:dk1>
      <a:lt1>
        <a:sysClr val="window" lastClr="30363D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32867</TotalTime>
  <Words>1307</Words>
  <Application>Microsoft Office PowerPoint</Application>
  <PresentationFormat>On-screen Show (4:3)</PresentationFormat>
  <Paragraphs>393</Paragraphs>
  <Slides>29</Slides>
  <Notes>29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Paging in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Freephones - A look at free-to-use payphone projects via PhilTel</dc:title>
  <dc:creator>Mike</dc:creator>
  <cp:lastModifiedBy>Naveen Albert</cp:lastModifiedBy>
  <cp:revision>65</cp:revision>
  <dcterms:created xsi:type="dcterms:W3CDTF">2026-07-07T01:47:20Z</dcterms:created>
  <dcterms:modified xsi:type="dcterms:W3CDTF">2026-10-15T23:45:45Z</dcterms:modified>
</cp:coreProperties>
</file>