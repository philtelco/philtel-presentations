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91" r:id="rId5"/>
    <p:sldId id="311" r:id="rId6"/>
    <p:sldId id="312" r:id="rId7"/>
    <p:sldId id="333" r:id="rId8"/>
    <p:sldId id="307" r:id="rId9"/>
    <p:sldId id="308" r:id="rId10"/>
    <p:sldId id="334" r:id="rId11"/>
    <p:sldId id="309" r:id="rId12"/>
    <p:sldId id="322" r:id="rId13"/>
    <p:sldId id="260" r:id="rId14"/>
    <p:sldId id="310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3" r:id="rId24"/>
    <p:sldId id="325" r:id="rId25"/>
    <p:sldId id="329" r:id="rId26"/>
    <p:sldId id="330" r:id="rId27"/>
    <p:sldId id="324" r:id="rId28"/>
    <p:sldId id="331" r:id="rId29"/>
    <p:sldId id="332" r:id="rId30"/>
    <p:sldId id="321" r:id="rId31"/>
    <p:sldId id="289" r:id="rId32"/>
  </p:sldIdLst>
  <p:sldSz cx="10080625" cy="7559675"/>
  <p:notesSz cx="7772400" cy="10058400"/>
  <p:defaultTextStyle>
    <a:defPPr>
      <a:defRPr lang="en-US"/>
    </a:defPPr>
    <a:lvl1pPr marL="0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2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5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7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0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63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16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68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21" algn="l" defTabSz="9143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620" y="-96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E825C-5B19-4F18-9518-C1C9FFD02E9B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B972D-9986-453F-8152-274A66854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31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63231-D4FE-4E18-A5CB-2C0BE722562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778375"/>
            <a:ext cx="6216650" cy="4525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21E1A-73C2-44D3-B795-61BD9EEF1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1714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2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5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57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0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63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16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68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21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21E1A-73C2-44D3-B795-61BD9EEF1C2F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8" cy="19319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51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55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1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5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01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4" y="1763713"/>
            <a:ext cx="4460875" cy="4989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5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2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7" indent="0">
              <a:buNone/>
              <a:defRPr sz="1700" b="1"/>
            </a:lvl4pPr>
            <a:lvl5pPr marL="1828610" indent="0">
              <a:buNone/>
              <a:defRPr sz="1700" b="1"/>
            </a:lvl5pPr>
            <a:lvl6pPr marL="2285763" indent="0">
              <a:buNone/>
              <a:defRPr sz="1700" b="1"/>
            </a:lvl6pPr>
            <a:lvl7pPr marL="2742916" indent="0">
              <a:buNone/>
              <a:defRPr sz="1700" b="1"/>
            </a:lvl7pPr>
            <a:lvl8pPr marL="3200068" indent="0">
              <a:buNone/>
              <a:defRPr sz="1700" b="1"/>
            </a:lvl8pPr>
            <a:lvl9pPr marL="3657221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6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2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7" indent="0">
              <a:buNone/>
              <a:defRPr sz="1700" b="1"/>
            </a:lvl4pPr>
            <a:lvl5pPr marL="1828610" indent="0">
              <a:buNone/>
              <a:defRPr sz="1700" b="1"/>
            </a:lvl5pPr>
            <a:lvl6pPr marL="2285763" indent="0">
              <a:buNone/>
              <a:defRPr sz="1700" b="1"/>
            </a:lvl6pPr>
            <a:lvl7pPr marL="2742916" indent="0">
              <a:buNone/>
              <a:defRPr sz="1700" b="1"/>
            </a:lvl7pPr>
            <a:lvl8pPr marL="3200068" indent="0">
              <a:buNone/>
              <a:defRPr sz="1700" b="1"/>
            </a:lvl8pPr>
            <a:lvl9pPr marL="3657221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6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3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6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5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4" y="301626"/>
            <a:ext cx="5635625" cy="6451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1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152" indent="0">
              <a:buNone/>
              <a:defRPr sz="1200"/>
            </a:lvl2pPr>
            <a:lvl3pPr marL="914305" indent="0">
              <a:buNone/>
              <a:defRPr sz="1000"/>
            </a:lvl3pPr>
            <a:lvl4pPr marL="1371457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6" indent="0">
              <a:buNone/>
              <a:defRPr sz="900"/>
            </a:lvl7pPr>
            <a:lvl8pPr marL="3200068" indent="0">
              <a:buNone/>
              <a:defRPr sz="900"/>
            </a:lvl8pPr>
            <a:lvl9pPr marL="3657221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1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9" y="5291139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9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152" indent="0">
              <a:buNone/>
              <a:defRPr sz="2800"/>
            </a:lvl2pPr>
            <a:lvl3pPr marL="914305" indent="0">
              <a:buNone/>
              <a:defRPr sz="2400"/>
            </a:lvl3pPr>
            <a:lvl4pPr marL="1371457" indent="0">
              <a:buNone/>
              <a:defRPr sz="2000"/>
            </a:lvl4pPr>
            <a:lvl5pPr marL="1828610" indent="0">
              <a:buNone/>
              <a:defRPr sz="2000"/>
            </a:lvl5pPr>
            <a:lvl6pPr marL="2285763" indent="0">
              <a:buNone/>
              <a:defRPr sz="2000"/>
            </a:lvl6pPr>
            <a:lvl7pPr marL="2742916" indent="0">
              <a:buNone/>
              <a:defRPr sz="2000"/>
            </a:lvl7pPr>
            <a:lvl8pPr marL="3200068" indent="0">
              <a:buNone/>
              <a:defRPr sz="2000"/>
            </a:lvl8pPr>
            <a:lvl9pPr marL="3657221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9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152" indent="0">
              <a:buNone/>
              <a:defRPr sz="1200"/>
            </a:lvl2pPr>
            <a:lvl3pPr marL="914305" indent="0">
              <a:buNone/>
              <a:defRPr sz="1000"/>
            </a:lvl3pPr>
            <a:lvl4pPr marL="1371457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6" indent="0">
              <a:buNone/>
              <a:defRPr sz="900"/>
            </a:lvl7pPr>
            <a:lvl8pPr marL="3200068" indent="0">
              <a:buNone/>
              <a:defRPr sz="900"/>
            </a:lvl8pPr>
            <a:lvl9pPr marL="3657221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2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6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450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826" y="303213"/>
            <a:ext cx="6653213" cy="6450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8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826" y="303214"/>
            <a:ext cx="9072563" cy="1258887"/>
          </a:xfrm>
          <a:prstGeom prst="rect">
            <a:avLst/>
          </a:prstGeom>
        </p:spPr>
        <p:txBody>
          <a:bodyPr vert="horz" lIns="91430" tIns="45716" rIns="91430" bIns="4571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6" y="1763713"/>
            <a:ext cx="9072563" cy="4989512"/>
          </a:xfrm>
          <a:prstGeom prst="rect">
            <a:avLst/>
          </a:prstGeom>
        </p:spPr>
        <p:txBody>
          <a:bodyPr vert="horz" lIns="91430" tIns="45716" rIns="91430" bIns="4571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825" y="7007225"/>
            <a:ext cx="2351088" cy="401638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875" y="7007225"/>
            <a:ext cx="3190875" cy="401638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714" y="7007225"/>
            <a:ext cx="2352675" cy="401638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D4F0A-62C8-407F-B6EA-E8107696E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iming>
    <p:tnLst>
      <p:par>
        <p:cTn id="1" dur="indefinite" restart="never" nodeType="tmRoot"/>
      </p:par>
    </p:tnLst>
  </p:timing>
  <p:hf hdr="0"/>
  <p:txStyles>
    <p:titleStyle>
      <a:lvl1pPr algn="ctr" defTabSz="91430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5" indent="-342865" algn="l" defTabSz="91430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3" indent="-285721" algn="l" defTabSz="9143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1" indent="-228576" algn="l" defTabSz="9143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34" indent="-228576" algn="l" defTabSz="9143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87" indent="-228576" algn="l" defTabSz="914305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0" indent="-228576" algn="l" defTabSz="9143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2" indent="-228576" algn="l" defTabSz="9143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45" indent="-228576" algn="l" defTabSz="9143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97" indent="-228576" algn="l" defTabSz="9143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2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5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7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0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3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6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68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1" algn="l" defTabSz="91430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dialup.world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dogemicrosystems.ca/wiki/Dial_up_server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ebtv.zone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2600.network/" TargetMode="External"/><Relationship Id="rId2" Type="http://schemas.openxmlformats.org/officeDocument/2006/relationships/hyperlink" Target="https://dialin.doslabelectronics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github.com/dialup-world/naplps-server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hyperlink" Target="https://famicoman.com/" TargetMode="External"/><Relationship Id="rId7" Type="http://schemas.openxmlformats.org/officeDocument/2006/relationships/hyperlink" Target="https://github.com/InterLinked1" TargetMode="External"/><Relationship Id="rId2" Type="http://schemas.openxmlformats.org/officeDocument/2006/relationships/hyperlink" Target="mailto:mike@philtel.or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nterlinked.us/" TargetMode="External"/><Relationship Id="rId5" Type="http://schemas.openxmlformats.org/officeDocument/2006/relationships/hyperlink" Target="mailto:interlinked@philtel.org" TargetMode="External"/><Relationship Id="rId4" Type="http://schemas.openxmlformats.org/officeDocument/2006/relationships/hyperlink" Target="https://github.com/Famicom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544512" y="4008437"/>
            <a:ext cx="9234720" cy="2491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</a:pPr>
            <a:endParaRPr lang="en-US" sz="4900" b="1" spc="-1" dirty="0">
              <a:latin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Modem </a:t>
            </a:r>
            <a:r>
              <a:rPr lang="en-US" dirty="0" smtClean="0"/>
              <a:t>Madness!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Recent Experiments with Dial-up Modems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4661"/>
            <a:ext cx="10058400" cy="565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>
                <a:solidFill>
                  <a:srgbClr val="333333"/>
                </a:solidFill>
                <a:latin typeface="Franklin Gothic Medium"/>
                <a:ea typeface="DejaVu Sans"/>
              </a:rPr>
              <a:t>Agenda</a:t>
            </a:r>
            <a:endParaRPr lang="en-US" sz="3600" spc="-1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20000" y="1692000"/>
            <a:ext cx="8639280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Who are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we?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Previously with Mike and Naveen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Modems? Dial-up?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Dialup World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Other modem offerings?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NAPLPS-Server, Leitch Clock System Driver, Telecommunications Devices for the Deaf (TDDs)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State of dial-up today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Dial-up war stories, multilink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PPP</a:t>
            </a:r>
            <a:endParaRPr lang="en-US" sz="2200" spc="-1" dirty="0" smtClean="0">
              <a:latin typeface="Franklin Gothic Medium" panose="020B0603020102020204" pitchFamily="34" charset="0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Future Efforts</a:t>
            </a:r>
            <a:endParaRPr lang="en-US" sz="22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>
                <a:solidFill>
                  <a:srgbClr val="333333"/>
                </a:solidFill>
                <a:latin typeface="Franklin Gothic Medium"/>
                <a:ea typeface="DejaVu Sans"/>
              </a:rPr>
              <a:t>Who are You?</a:t>
            </a:r>
            <a:endParaRPr lang="en-US" sz="3600" spc="-1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640080" y="1645920"/>
            <a:ext cx="4480200" cy="4898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108"/>
              </a:spcAft>
            </a:pPr>
            <a:r>
              <a:rPr lang="en-US" sz="22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Mike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Software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engineer by trade, more excited when he can use a soldering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iron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Has been doing weird </a:t>
            </a:r>
            <a:r>
              <a:rPr lang="en-US" sz="2200" spc="-1" smtClean="0">
                <a:solidFill>
                  <a:srgbClr val="333333"/>
                </a:solidFill>
                <a:latin typeface="Franklin Gothic Medium"/>
                <a:ea typeface="DejaVu Sans"/>
              </a:rPr>
              <a:t>VoIP stuff for 13 years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Roleplays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as a telephone company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Notices every manhole cover he walks past</a:t>
            </a:r>
            <a:endParaRPr lang="en-US" sz="2200" spc="-1" dirty="0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5147640" y="1645921"/>
            <a:ext cx="4636080" cy="48009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108"/>
              </a:spcAft>
            </a:pPr>
            <a:r>
              <a:rPr lang="en-US" sz="22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Naveen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Computer engineer with IT background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</a:rPr>
              <a:t>Longtime phone phreak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</a:rPr>
              <a:t>Scans payphones using modems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</a:rPr>
              <a:t>Created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</a:rPr>
              <a:t>PhreakNet</a:t>
            </a:r>
            <a:endParaRPr lang="en-US" sz="2200" spc="-1" dirty="0" smtClean="0">
              <a:solidFill>
                <a:srgbClr val="333333"/>
              </a:solidFill>
              <a:latin typeface="Franklin Gothic Medium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</a:rPr>
              <a:t>Asterisk/DAHDI/C developer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</a:rPr>
              <a:t>BBS sysop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Environmental activist</a:t>
            </a:r>
            <a:endParaRPr lang="en-US" sz="22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720001" y="579437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Previously with Mike and Naveen…</a:t>
            </a:r>
            <a:endParaRPr lang="en-US" sz="3600" spc="-1" dirty="0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720000" y="1417637"/>
            <a:ext cx="8639280" cy="47304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b="1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PhilTel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is a telephone collective aiming to install free-to-use payphones in the Philadelphia area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Mike created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 “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Protel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P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rogramming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L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ine”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so people with </a:t>
            </a:r>
            <a:r>
              <a:rPr lang="en-US" sz="2200" i="1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Protel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payphones can freely call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this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service to make their payphone work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again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Naveen runs NIPCAQ, a system that perpetually calls hundreds of COCOTs for health and usage statistics</a:t>
            </a:r>
          </a:p>
        </p:txBody>
      </p:sp>
      <p:pic>
        <p:nvPicPr>
          <p:cNvPr id="140" name="Picture 103"/>
          <p:cNvPicPr/>
          <p:nvPr/>
        </p:nvPicPr>
        <p:blipFill>
          <a:blip r:embed="rId2"/>
          <a:stretch/>
        </p:blipFill>
        <p:spPr>
          <a:xfrm>
            <a:off x="1554481" y="4543037"/>
            <a:ext cx="6491520" cy="2208600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3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720001" y="579437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is a Modem?</a:t>
            </a:r>
            <a:endParaRPr lang="en-US" sz="3600" spc="-1" dirty="0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720000" y="1417637"/>
            <a:ext cx="8639280" cy="47304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Modulator/Demodulator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computer hardware device that converts data from a digital format into a format suitable for an analog transmission medium such as telephone or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radio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They come in many forms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4098" name="Picture 2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2" y="3627437"/>
            <a:ext cx="288194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US ROBOTICS 28,800FAX MODEM 28.800 V.32 bis SPORTSTER NO POWER ADAPTER UOS - Picture 1 of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825" y="3103562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1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720001" y="579437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is a Dial-up?</a:t>
            </a:r>
            <a:endParaRPr lang="en-US" sz="3600" spc="-1" dirty="0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720000" y="1417637"/>
            <a:ext cx="8639280" cy="47304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Transmit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computer data over an ordinary switched telephone line that has not been designed for data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use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Dial-up is often associated with Internet access, but can describe any way of accessing hardware/systems this way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In the ‘90s, millions of Americans had dial-up Internet access, utilized by 75% of households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Largely surpassed by broadband</a:t>
            </a:r>
            <a:endParaRPr lang="en-US" sz="22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err="1" smtClean="0"/>
              <a:t>Jawncon</a:t>
            </a:r>
            <a:r>
              <a:rPr lang="en-US" dirty="0" smtClean="0"/>
              <a:t> 0x2 - 2025-10-11</a:t>
            </a:r>
            <a:endParaRPr lang="en-US" dirty="0"/>
          </a:p>
        </p:txBody>
      </p:sp>
      <p:pic>
        <p:nvPicPr>
          <p:cNvPr id="8194" name="Picture 2" descr="Remember Dial-Up internet? : r/nostalg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2" y="4237037"/>
            <a:ext cx="3810000" cy="279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/MovieMistakes - Hackers, beginning of the movie, the security guard at the TV station reads out the wrong number on the mod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312" y="3529566"/>
            <a:ext cx="4038782" cy="346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69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720001" y="579437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is a Dial-up?</a:t>
            </a:r>
            <a:endParaRPr lang="en-US" sz="3600" spc="-1" dirty="0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720000" y="1417637"/>
            <a:ext cx="8639280" cy="47304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Speeds are measured in bps (bits per second)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You are probably used to speeds in Mbps or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Gbps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Different speeds are usually associated with different standards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Bell Standards, Bell 101 = 110 bps, Bell 103 = 300 bps, Bell 212A = 1200 bps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ITU-T Standards, V.34 = 33.6K, V.90/V.92 = 56K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2050" name="Picture 2" descr="https://pbs.twimg.com/tweet_video_thumb/EZv5QT4X0AAgeJ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2" y="4313237"/>
            <a:ext cx="6141251" cy="261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77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Dialup World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739912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 pretty bad (but functioning) dial-up ISP –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http://dialup.world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</a:t>
            </a:r>
            <a:endParaRPr lang="en-US" sz="2200" spc="-1" dirty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Established 2021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Essentially built on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trash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First iteration leveraged Server 2003 and Remote Access Service</a:t>
            </a:r>
            <a:endParaRPr lang="en-US" sz="2200" spc="-1" dirty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2050" name="Picture 2" descr="https://dialup.world/onepointoh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2" y="3475037"/>
            <a:ext cx="4686300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16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Dialup World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4548912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Currently runs on a Le Potato SBC with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mgetty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/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pppd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on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Armbian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Based on the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guide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from Doge Microsystems -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https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://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dogemicrosystems.ca/wiki/Dial_up_server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You can call it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! </a:t>
            </a:r>
            <a:r>
              <a:rPr lang="en-US" sz="22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484-820-1337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33.6K speeds! (Limitation with analog-analog communication)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4x Sportster modems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Easter eggs</a:t>
            </a:r>
            <a:endParaRPr lang="en-US" sz="2200" spc="-1" dirty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48211" y="2090737"/>
            <a:ext cx="5384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4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Dialup World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968512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WebTV Compatible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Connects to WebTV Redialed, an effort to reverse-engineer the original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WebTV service -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https://webtv.zone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/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Works automagically with your old WebTV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440112" y="6980237"/>
            <a:ext cx="3190875" cy="401638"/>
          </a:xfrm>
        </p:spPr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4098" name="Picture 2" descr="Who remembers Webtv? : r/90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" y="3475037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ebTV - YouTub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921" y="3236911"/>
            <a:ext cx="4445000" cy="333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35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Dialup World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639280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How does it connect to the PSTN?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VoIP number through Voip.ms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Grandstream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ATAs to an Asterisk switch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You can use a VoIP provider and ATAs for dial-up?!?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Yes, it works!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Force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ulaw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(G.711) codec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Set fixed jitter buffer, low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Turn off echo cancellation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6148" name="Picture 4" descr="Grandstream GS-HT802 2 Port Analog Telephone Adapter NEW UNLOCKED - Picture 2 of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840" y="350837"/>
            <a:ext cx="3288081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Mike\Downloads\8tzq9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640" y="3475037"/>
            <a:ext cx="4264736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69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Dialup World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639280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There’s renewed interest in Dial-up and vintage enterprise networking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@</a:t>
            </a:r>
            <a:r>
              <a:rPr lang="en-US" sz="2200" b="1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theserialport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, </a:t>
            </a:r>
            <a:r>
              <a:rPr lang="en-US" sz="22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@</a:t>
            </a:r>
            <a:r>
              <a:rPr lang="en-US" sz="2200" b="1" spc="-1" dirty="0" err="1">
                <a:solidFill>
                  <a:srgbClr val="333333"/>
                </a:solidFill>
                <a:latin typeface="Franklin Gothic Medium"/>
                <a:ea typeface="DejaVu Sans"/>
              </a:rPr>
              <a:t>clabretro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on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YouTube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DosLab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-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https://dialin.doslabelectronics.com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/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2600.network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-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  <a:hlinkClick r:id="rId3"/>
              </a:rPr>
              <a:t>https://2600.network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3"/>
              </a:rPr>
              <a:t>/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1026" name="Picture 2" descr="Build Your Own Dial-Up ISP – Now With Modem Pool! | Hackada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167" y="3932237"/>
            <a:ext cx="5084587" cy="286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41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65412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What else can we run?</a:t>
            </a:r>
            <a:endParaRPr lang="en-US" sz="3600" spc="-1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5" name="AutoShape 2" descr="Image of You hooked it up to the phone, didn't you?"/>
          <p:cNvSpPr>
            <a:spLocks noChangeAspect="1" noChangeArrowheads="1"/>
          </p:cNvSpPr>
          <p:nvPr/>
        </p:nvSpPr>
        <p:spPr bwMode="auto">
          <a:xfrm>
            <a:off x="155575" y="-1028700"/>
            <a:ext cx="3810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2" y="1527175"/>
            <a:ext cx="5715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AT&amp;T </a:t>
            </a:r>
            <a:r>
              <a:rPr lang="en-US" sz="36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Sceptre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639280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An 80’s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videotex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terminal that supports NAPLPS (North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American Presentation Layer Protocol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Syntax), used for ~3 years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Originated from the Canadian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Telidon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Service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5122" name="Picture 2" descr="Mike Dank's Python Tool Serves Up Slick Pics to the AT&amp;T Sceptre and Other  Vintage Videotex Boxes - Hackster.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4" y="3017837"/>
            <a:ext cx="623146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04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NAPLPS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639280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 vector graphics format, used often as a GUI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NAPLPS services often had a lot of interactivity such as online banking, flight booking, weather reports, and news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" y="3094037"/>
            <a:ext cx="4536869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971" y="3094037"/>
            <a:ext cx="4666353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342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NAPLPS-Server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639280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I wrote a python application that interfaces with a modem to answer incoming calls and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send NAPLPS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file contents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byte-by-byte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 code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is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OSS -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https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://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  <a:hlinkClick r:id="rId2"/>
              </a:rPr>
              <a:t>github.com/dialup-world/naplps-server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There’s a live demo number: </a:t>
            </a:r>
            <a:r>
              <a:rPr lang="en-US" sz="22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267-921-1337</a:t>
            </a:r>
            <a:endParaRPr lang="en-US" sz="2200" spc="-1" dirty="0" smtClean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8" name="Picture 2" descr="NAPLPS image of a shark with text “Something to THINK about”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3416105"/>
            <a:ext cx="4615121" cy="346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NAPLPS art of an explosion and text “BOOM” in the middle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508" y="3416104"/>
            <a:ext cx="4613004" cy="345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45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Leitch CSD-5300 - Clock System Driver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8639280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1985 device supplying time code for slave clocks, broadcast equipment, etc.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Learned about this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via </a:t>
            </a:r>
            <a:r>
              <a:rPr lang="en-US" sz="22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@</a:t>
            </a:r>
            <a:r>
              <a:rPr lang="en-US" sz="22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themaritimegirl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on YouTube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 CSD-5300 can call another CSD-5300 via 300 baud modem to set its own time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11266" name="Picture 2" descr="Leitch CSD-5300 Clock System Driver (1991)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2" y="3475037"/>
            <a:ext cx="5924550" cy="333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67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Leitch CSD-5300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20000" y="1493837"/>
            <a:ext cx="4091712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 National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Research Council of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Canada still runs CSD-5300s to call for time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(613) 745-3900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 NRC proposed a Telephone Time Dissemination Network in the ‘80s that never came to fruition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Different than the NIST’s ACTS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(303)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494-4774 (CO)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(808)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335-4721 (HI)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12" y="1320799"/>
            <a:ext cx="4983241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411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Leitch CSD-5300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My CSD-5300 takes calls, </a:t>
            </a:r>
            <a:r>
              <a:rPr lang="en-US" sz="2200" b="1" spc="-1" dirty="0">
                <a:solidFill>
                  <a:srgbClr val="333333"/>
                </a:solidFill>
                <a:latin typeface="Franklin Gothic Medium"/>
                <a:ea typeface="DejaVu Sans"/>
              </a:rPr>
              <a:t>267-417-TIME (8463)</a:t>
            </a:r>
            <a:endParaRPr lang="en-US" sz="2200" b="1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Other than the NRC, </a:t>
            </a:r>
            <a:r>
              <a:rPr lang="en-US" sz="2200" b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@</a:t>
            </a:r>
            <a:r>
              <a:rPr lang="en-US" sz="2200" b="1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themaritimegirl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and I have the only publicly-accessible CSD-5300s operating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Finally time for a Telephone Time Dissemination Network?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19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461" y="3170237"/>
            <a:ext cx="508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2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>
                <a:solidFill>
                  <a:srgbClr val="333333"/>
                </a:solidFill>
                <a:latin typeface="Franklin Gothic Medium"/>
                <a:ea typeface="DejaVu Sans"/>
              </a:rPr>
              <a:t>Telecommunications Devices for the </a:t>
            </a: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Deaf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E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lectronic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device for text communication over a telephone line, that is designed for use by persons with hearing or speech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difficulties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Also known as a Teletypewriter (TTY)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Uses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baudot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 code at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either 45.45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or 50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baud (just like 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R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TTY)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Have 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screens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, printer, full keyboard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15362" name="Picture 2" descr="Ultratec Superprint 442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4" y="3685877"/>
            <a:ext cx="4888339" cy="342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Payphone Project on X: &quot;Payphones of 125th Street, including something I've  never seen before, not in the wilds, at least. A payphone/TTY with the  keyboard rolled out. Don't know if this devic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499" y="3475037"/>
            <a:ext cx="3542421" cy="354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30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>
                <a:solidFill>
                  <a:srgbClr val="333333"/>
                </a:solidFill>
                <a:latin typeface="Franklin Gothic Medium"/>
                <a:ea typeface="DejaVu Sans"/>
              </a:rPr>
              <a:t>Telecommunications Devices for the </a:t>
            </a: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Deaf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Baudot</a:t>
            </a:r>
            <a:r>
              <a:rPr lang="en-US" sz="2200" spc="-1" dirty="0">
                <a:solidFill>
                  <a:srgbClr val="333333"/>
                </a:solidFill>
                <a:latin typeface="Franklin Gothic Medium"/>
                <a:ea typeface="DejaVu Sans"/>
              </a:rPr>
              <a:t>-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compatible modems do exist!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Pricey/expensive, somewhat hard to find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Not reliable, all of mine have issues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59" y="2911474"/>
            <a:ext cx="55118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5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</a:rPr>
              <a:t>TDDs as Terminals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TDDs are just compact computer terminals!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Common in many airports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Supported by Asterisk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Softmodem</a:t>
            </a: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philtel.org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02" y="3051432"/>
            <a:ext cx="4046381" cy="303478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512" y="2368549"/>
            <a:ext cx="344908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17792" y="6294437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(301) 301-1337</a:t>
            </a:r>
            <a:endParaRPr lang="en-US" b="1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4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Dial-Up Internet Access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Modem connection to an ISP, as opposed to a “direct dial” link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56k not common until the end of the 90s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1" r="6805"/>
          <a:stretch/>
        </p:blipFill>
        <p:spPr bwMode="auto">
          <a:xfrm>
            <a:off x="6183312" y="2941636"/>
            <a:ext cx="3551238" cy="3526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 descr="https://www.websiteoptimization.com/wp-content/uploads/2010/08/broadband-vs-dialu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49" y="3351212"/>
            <a:ext cx="54864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43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Dial-Up… In the 2020s?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Still common in areas </a:t>
            </a:r>
            <a:r>
              <a:rPr lang="en-US" sz="2200" spc="-1" dirty="0" err="1" smtClean="0">
                <a:solidFill>
                  <a:srgbClr val="333333"/>
                </a:solidFill>
                <a:latin typeface="Franklin Gothic Medium"/>
                <a:ea typeface="DejaVu Sans"/>
              </a:rPr>
              <a:t>unserved</a:t>
            </a: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by broadband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Sometimes chosen for its cost-effectiveness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Every dial-up ISP resells the same wholesale provider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98" y="5382617"/>
            <a:ext cx="7742621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247" y="3170237"/>
            <a:ext cx="3737471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https://sitetest.globalpops.com/wp-content/uploads/gpops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98" y="4008437"/>
            <a:ext cx="3724559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2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</a:rPr>
              <a:t>Dial-Up Speeds Today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9" name="Picture 2" descr="https://th.bing.com/th/id/R.6d6b8fe862022591ded1b673e005d0a2?rik=dVdropmj9vmcLA&amp;riu=http%3a%2f%2fnwrusa.com%2fcdn%2fshop%2fproducts%2fUS_Robotics_USR5686-01_REFURB_1_1200x1200.jpg%3fv%3d1575606463&amp;ehk=QIWw1FX4x503rb5hGr0JsvL4Kj9GzeFgUs71FW3tUrc%3d&amp;risl=&amp;pid=ImgRaw&amp;r=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41" b="20665"/>
          <a:stretch/>
        </p:blipFill>
        <p:spPr bwMode="auto">
          <a:xfrm>
            <a:off x="395434" y="1857077"/>
            <a:ext cx="731222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1" r="74880"/>
          <a:stretch/>
        </p:blipFill>
        <p:spPr bwMode="auto">
          <a:xfrm>
            <a:off x="7859712" y="1265237"/>
            <a:ext cx="1352798" cy="498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60646" y="2103437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Impact" panose="020B0806030902050204" pitchFamily="34" charset="0"/>
              </a:rPr>
              <a:t>TONIGHT WE’RE GOING TO PARTY LIKE IT’S 1999</a:t>
            </a:r>
            <a:endParaRPr lang="en-US" sz="2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59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</a:rPr>
              <a:t>That Darn “33.6k Cliff”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9" name="Picture 2" descr="https://th.bing.com/th/id/R.6d6b8fe862022591ded1b673e005d0a2?rik=dVdropmj9vmcLA&amp;riu=http%3a%2f%2fnwrusa.com%2fcdn%2fshop%2fproducts%2fUS_Robotics_USR5686-01_REFURB_1_1200x1200.jpg%3fv%3d1575606463&amp;ehk=QIWw1FX4x503rb5hGr0JsvL4Kj9GzeFgUs71FW3tUrc%3d&amp;risl=&amp;pid=ImgRaw&amp;r=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41" b="20665"/>
          <a:stretch/>
        </p:blipFill>
        <p:spPr bwMode="auto">
          <a:xfrm>
            <a:off x="395434" y="1857077"/>
            <a:ext cx="731222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1" r="74880"/>
          <a:stretch/>
        </p:blipFill>
        <p:spPr bwMode="auto">
          <a:xfrm>
            <a:off x="7859712" y="1265237"/>
            <a:ext cx="1352798" cy="498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60646" y="2103437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Impact" panose="020B0806030902050204" pitchFamily="34" charset="0"/>
              </a:rPr>
              <a:t>TONIGHT WE’RE GOING TO PARTY LIKE IT’S 1996</a:t>
            </a:r>
            <a:endParaRPr lang="en-US" sz="2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1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Multilink PPP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Bundles bandwidth from multiple phone lines together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Requires support by the ISP to bundle concurrent sessions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Also called “bonding”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14" y="4705994"/>
            <a:ext cx="4516744" cy="204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14" y="3094037"/>
            <a:ext cx="3581349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912" y="2660763"/>
            <a:ext cx="4269495" cy="408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10"/>
          <p:cNvSpPr/>
          <p:nvPr/>
        </p:nvSpPr>
        <p:spPr>
          <a:xfrm>
            <a:off x="381614" y="3795712"/>
            <a:ext cx="2982298" cy="3651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noFill/>
            </a:endParaRPr>
          </a:p>
        </p:txBody>
      </p:sp>
      <p:sp>
        <p:nvSpPr>
          <p:cNvPr id="19" name="Oval 18"/>
          <p:cNvSpPr/>
          <p:nvPr/>
        </p:nvSpPr>
        <p:spPr>
          <a:xfrm rot="5400000">
            <a:off x="-54447" y="5766270"/>
            <a:ext cx="1594791" cy="3651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noFill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869112" y="4252912"/>
            <a:ext cx="2601298" cy="3651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3575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85640"/>
            <a:ext cx="8854920" cy="4924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“High-Speed Dial-Up” - A True Story From 2021</a:t>
            </a:r>
            <a:endParaRPr lang="en-US" sz="32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One of my users ordered some “extra” phone lines for multilink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8 total POTS line, 7 for dial-up = (up to) ~350 kbps!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2779712"/>
            <a:ext cx="84391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ubOvalCallout"/>
          <p:cNvSpPr>
            <a:spLocks noEditPoints="1" noChangeArrowheads="1"/>
          </p:cNvSpPr>
          <p:nvPr/>
        </p:nvSpPr>
        <p:spPr bwMode="auto">
          <a:xfrm>
            <a:off x="5630863" y="4008437"/>
            <a:ext cx="3592512" cy="16002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105922" y="4234325"/>
            <a:ext cx="2642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It </a:t>
            </a:r>
            <a:r>
              <a:rPr lang="en-US" dirty="0"/>
              <a:t>says I’m getting 349.1 kbps on the PC connection status</a:t>
            </a:r>
          </a:p>
          <a:p>
            <a:pPr algn="ctr"/>
            <a:endParaRPr lang="en-US" dirty="0"/>
          </a:p>
        </p:txBody>
      </p:sp>
      <p:sp>
        <p:nvSpPr>
          <p:cNvPr id="9" name="PubOvalCallout"/>
          <p:cNvSpPr>
            <a:spLocks noEditPoints="1" noChangeArrowheads="1"/>
          </p:cNvSpPr>
          <p:nvPr/>
        </p:nvSpPr>
        <p:spPr bwMode="auto">
          <a:xfrm>
            <a:off x="239712" y="4084637"/>
            <a:ext cx="3733800" cy="1600200"/>
          </a:xfrm>
          <a:custGeom>
            <a:avLst/>
            <a:gdLst>
              <a:gd name="G0" fmla="+- 0 0 0"/>
              <a:gd name="G1" fmla="+- 10766 0 0"/>
              <a:gd name="T0" fmla="*/ 10800 w 21600"/>
              <a:gd name="T1" fmla="*/ 0 h 21600"/>
              <a:gd name="T2" fmla="*/ 0 w 21600"/>
              <a:gd name="T3" fmla="*/ 8105 h 21600"/>
              <a:gd name="T4" fmla="*/ 10766 w 21600"/>
              <a:gd name="T5" fmla="*/ 21600 h 21600"/>
              <a:gd name="T6" fmla="*/ 10800 w 21600"/>
              <a:gd name="T7" fmla="*/ 16210 h 21600"/>
              <a:gd name="T8" fmla="*/ 21600 w 21600"/>
              <a:gd name="T9" fmla="*/ 8105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3163 w 21600"/>
              <a:gd name="T16" fmla="*/ 2374 h 21600"/>
              <a:gd name="T17" fmla="*/ 18437 w 21600"/>
              <a:gd name="T18" fmla="*/ 1383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close/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PubRRectCallout"/>
          <p:cNvSpPr>
            <a:spLocks noEditPoints="1" noChangeArrowheads="1"/>
          </p:cNvSpPr>
          <p:nvPr/>
        </p:nvSpPr>
        <p:spPr bwMode="auto">
          <a:xfrm>
            <a:off x="2220912" y="5532437"/>
            <a:ext cx="5905502" cy="1524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96910" y="4378324"/>
            <a:ext cx="2971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324.5 kbps with seven lines connected!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5214" y="5731558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definitely feels faster- literally like high speed dial up It’s great- amazing what is possible - </a:t>
            </a:r>
            <a:r>
              <a:rPr lang="en-US" dirty="0" smtClean="0"/>
              <a:t>most </a:t>
            </a:r>
            <a:r>
              <a:rPr lang="en-US" dirty="0"/>
              <a:t>everything is much more manageable.</a:t>
            </a:r>
          </a:p>
        </p:txBody>
      </p:sp>
    </p:spTree>
    <p:extLst>
      <p:ext uri="{BB962C8B-B14F-4D97-AF65-F5344CB8AC3E}">
        <p14:creationId xmlns:p14="http://schemas.microsoft.com/office/powerpoint/2010/main" val="300113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So, how many lines </a:t>
            </a:r>
            <a:r>
              <a:rPr lang="en-US" sz="3600" i="1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can</a:t>
            </a: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 you bundle?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29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2" y="1417686"/>
            <a:ext cx="6871494" cy="4921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20001" y="6675437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https://www.youtube.com/@theserialport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" y="5509765"/>
            <a:ext cx="5586412" cy="1157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318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720001" y="654862"/>
            <a:ext cx="88549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Future Plans</a:t>
            </a:r>
            <a:endParaRPr lang="en-US" sz="3600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719999" y="1493837"/>
            <a:ext cx="8854921" cy="438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Does 56K work over VoIP? Yes, but it is more difficult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We can leverage TDM equipment and digital modems</a:t>
            </a: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There are a number of options!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200" spc="-1" dirty="0" smtClean="0">
                <a:solidFill>
                  <a:srgbClr val="333333"/>
                </a:solidFill>
                <a:latin typeface="Franklin Gothic Medium"/>
                <a:ea typeface="DejaVu Sans"/>
              </a:rPr>
              <a:t>Evaluate dial-up as a primary Internet connection</a:t>
            </a: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latin typeface="Arial"/>
            </a:endParaRPr>
          </a:p>
          <a:p>
            <a:pPr marL="889107" lvl="1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endParaRPr lang="en-US" sz="2200" spc="-1" dirty="0" smtClean="0">
              <a:solidFill>
                <a:srgbClr val="333333"/>
              </a:solidFill>
              <a:latin typeface="Franklin Gothic Medium"/>
              <a:ea typeface="DejaVu San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12" y="3480401"/>
            <a:ext cx="4463247" cy="334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720001" y="651966"/>
            <a:ext cx="8854920" cy="5597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pc="-1">
                <a:solidFill>
                  <a:srgbClr val="333333"/>
                </a:solidFill>
                <a:latin typeface="Franklin Gothic Medium"/>
                <a:ea typeface="DejaVu Sans"/>
              </a:rPr>
              <a:t>Questions?</a:t>
            </a:r>
            <a:endParaRPr lang="en-US" sz="3600" spc="-1"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640080" y="1493837"/>
            <a:ext cx="4480200" cy="4898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108"/>
              </a:spcAft>
            </a:pPr>
            <a:r>
              <a:rPr lang="en-US" sz="22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Mike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2"/>
              </a:rPr>
              <a:t>mike@philtel.org</a:t>
            </a: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z="20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Famicoman</a:t>
            </a: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(</a:t>
            </a:r>
            <a:r>
              <a:rPr lang="en-US" sz="2000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Libera</a:t>
            </a: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IRC)</a:t>
            </a:r>
            <a:endParaRPr lang="en-US" sz="20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3"/>
              </a:rPr>
              <a:t>https://famicoman.com</a:t>
            </a: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z="20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4"/>
              </a:rPr>
              <a:t>https://github.com/Famicoman</a:t>
            </a:r>
            <a:r>
              <a:rPr lang="en-US" sz="2000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 </a:t>
            </a:r>
            <a:endParaRPr lang="en-US" sz="2000" spc="-1" dirty="0">
              <a:latin typeface="Arial"/>
            </a:endParaRPr>
          </a:p>
        </p:txBody>
      </p:sp>
      <p:sp>
        <p:nvSpPr>
          <p:cNvPr id="213" name="CustomShape 3"/>
          <p:cNvSpPr/>
          <p:nvPr/>
        </p:nvSpPr>
        <p:spPr>
          <a:xfrm>
            <a:off x="5303520" y="1493837"/>
            <a:ext cx="4480200" cy="4898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Aft>
                <a:spcPts val="1108"/>
              </a:spcAft>
            </a:pPr>
            <a:r>
              <a:rPr lang="en-US" sz="22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Naveen</a:t>
            </a:r>
            <a:endParaRPr lang="en-US" sz="22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5"/>
              </a:rPr>
              <a:t>interlinked@philtel.org</a:t>
            </a:r>
            <a:endParaRPr lang="en-US" sz="20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InterLinked</a:t>
            </a: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(</a:t>
            </a:r>
            <a:r>
              <a:rPr lang="en-US" sz="2000" b="1" spc="-1" dirty="0" err="1">
                <a:solidFill>
                  <a:srgbClr val="333333"/>
                </a:solidFill>
                <a:latin typeface="Franklin Gothic Book"/>
                <a:ea typeface="DejaVu Sans"/>
              </a:rPr>
              <a:t>Libera</a:t>
            </a: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IRC)</a:t>
            </a:r>
            <a:endParaRPr lang="en-US" sz="20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6"/>
              </a:rPr>
              <a:t>https://interlinked.us</a:t>
            </a:r>
            <a:r>
              <a:rPr lang="en-US" sz="2000" b="1" spc="-1" dirty="0">
                <a:solidFill>
                  <a:srgbClr val="333333"/>
                </a:solidFill>
                <a:latin typeface="Franklin Gothic Book"/>
                <a:ea typeface="DejaVu Sans"/>
              </a:rPr>
              <a:t> </a:t>
            </a:r>
            <a:endParaRPr lang="en-US" sz="2000" spc="-1" dirty="0">
              <a:latin typeface="Arial"/>
            </a:endParaRPr>
          </a:p>
          <a:p>
            <a:pPr marL="431955" indent="-323246">
              <a:spcAft>
                <a:spcPts val="1108"/>
              </a:spcAft>
              <a:buClr>
                <a:srgbClr val="EF2929"/>
              </a:buClr>
              <a:buSzPct val="45000"/>
              <a:buFont typeface="Wingdings" charset="2"/>
              <a:buChar char=""/>
            </a:pPr>
            <a:r>
              <a:rPr lang="en-US" sz="2000" b="1" u="sng" spc="-1" dirty="0">
                <a:solidFill>
                  <a:srgbClr val="0000FF"/>
                </a:solidFill>
                <a:latin typeface="Franklin Gothic Book"/>
                <a:ea typeface="DejaVu Sans"/>
                <a:hlinkClick r:id="rId7"/>
              </a:rPr>
              <a:t>https://github.com/InterLinked1</a:t>
            </a:r>
            <a:r>
              <a:rPr lang="en-US" sz="2000" b="1" spc="-1" dirty="0">
                <a:solidFill>
                  <a:srgbClr val="000000"/>
                </a:solidFill>
                <a:latin typeface="Franklin Gothic Book"/>
                <a:ea typeface="DejaVu Sans"/>
              </a:rPr>
              <a:t> </a:t>
            </a:r>
            <a:endParaRPr lang="en-US" sz="2000" spc="-1" dirty="0">
              <a:latin typeface="Arial"/>
            </a:endParaRPr>
          </a:p>
        </p:txBody>
      </p:sp>
      <p:sp>
        <p:nvSpPr>
          <p:cNvPr id="5" name="CustomShape 2"/>
          <p:cNvSpPr/>
          <p:nvPr/>
        </p:nvSpPr>
        <p:spPr>
          <a:xfrm>
            <a:off x="468312" y="4247400"/>
            <a:ext cx="9106608" cy="2449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ctr">
              <a:spcAft>
                <a:spcPts val="1108"/>
              </a:spcAft>
            </a:pPr>
            <a:endParaRPr lang="en-US" sz="3200" spc="-1" dirty="0">
              <a:latin typeface="Franklin Gothic Medium" panose="020B0603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philtel.org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D4F0A-62C8-407F-B6EA-E8107696EED4}" type="slidenum">
              <a:rPr lang="en-US" smtClean="0"/>
              <a:t>31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Jawncon 0x2 - 2025-10-11</a:t>
            </a:r>
            <a:endParaRPr lang="en-US"/>
          </a:p>
        </p:txBody>
      </p:sp>
      <p:sp>
        <p:nvSpPr>
          <p:cNvPr id="6" name="AutoShape 2" descr="Image of No no no... Thank you"/>
          <p:cNvSpPr>
            <a:spLocks noChangeAspect="1" noChangeArrowheads="1"/>
          </p:cNvSpPr>
          <p:nvPr/>
        </p:nvSpPr>
        <p:spPr bwMode="auto">
          <a:xfrm>
            <a:off x="155575" y="-1028700"/>
            <a:ext cx="3810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37" y="3947940"/>
            <a:ext cx="38100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36898</TotalTime>
  <Words>1310</Words>
  <Application>Microsoft Office PowerPoint</Application>
  <PresentationFormat>Custom</PresentationFormat>
  <Paragraphs>251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Custom Design</vt:lpstr>
      <vt:lpstr>Modem Madness!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Impress</dc:title>
  <dc:creator>Mike</dc:creator>
  <cp:lastModifiedBy>Mike</cp:lastModifiedBy>
  <cp:revision>158</cp:revision>
  <dcterms:created xsi:type="dcterms:W3CDTF">2023-09-05T23:20:36Z</dcterms:created>
  <dcterms:modified xsi:type="dcterms:W3CDTF">2025-10-10T01:53:58Z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32</vt:i4>
  </property>
</Properties>
</file>