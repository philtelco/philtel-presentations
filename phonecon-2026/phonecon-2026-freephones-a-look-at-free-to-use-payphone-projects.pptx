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2" r:id="rId6"/>
    <p:sldId id="263" r:id="rId7"/>
    <p:sldId id="282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5" r:id="rId18"/>
    <p:sldId id="281" r:id="rId19"/>
    <p:sldId id="274" r:id="rId20"/>
    <p:sldId id="276" r:id="rId21"/>
    <p:sldId id="277" r:id="rId22"/>
    <p:sldId id="279" r:id="rId23"/>
    <p:sldId id="284" r:id="rId24"/>
    <p:sldId id="290" r:id="rId25"/>
    <p:sldId id="286" r:id="rId26"/>
    <p:sldId id="285" r:id="rId27"/>
    <p:sldId id="287" r:id="rId28"/>
    <p:sldId id="288" r:id="rId29"/>
    <p:sldId id="289" r:id="rId30"/>
    <p:sldId id="291" r:id="rId31"/>
    <p:sldId id="292" r:id="rId32"/>
    <p:sldId id="293" r:id="rId33"/>
    <p:sldId id="294" r:id="rId34"/>
    <p:sldId id="295" r:id="rId35"/>
    <p:sldId id="278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333406-E4C5-4F90-B2F4-FE6C183A884E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9F96C1-65CB-4207-BEFB-983765C84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697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721E1A-73C2-44D3-B795-61BD9EEF1C2F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5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CAE3-19CC-4A93-81D1-16B62C9F2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613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CAE3-19CC-4A93-81D1-16B62C9F2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54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CAE3-19CC-4A93-81D1-16B62C9F2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75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CAE3-19CC-4A93-81D1-16B62C9F2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658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CAE3-19CC-4A93-81D1-16B62C9F2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280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CAE3-19CC-4A93-81D1-16B62C9F2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332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CAE3-19CC-4A93-81D1-16B62C9F2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140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CAE3-19CC-4A93-81D1-16B62C9F2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0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CAE3-19CC-4A93-81D1-16B62C9F2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07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CAE3-19CC-4A93-81D1-16B62C9F2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421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CAE3-19CC-4A93-81D1-16B62C9F2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660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PhoneCon - 2026-07-25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11CAE3-19CC-4A93-81D1-16B62C9F2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975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7" Type="http://schemas.openxmlformats.org/officeDocument/2006/relationships/image" Target="../media/image31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hiltelco/philtel-docs" TargetMode="External"/><Relationship Id="rId2" Type="http://schemas.openxmlformats.org/officeDocument/2006/relationships/hyperlink" Target="https://philtel.org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ayphone.club/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hyperlink" Target="https://philtel.org/contact/" TargetMode="External"/><Relationship Id="rId3" Type="http://schemas.openxmlformats.org/officeDocument/2006/relationships/hyperlink" Target="https://famicoman.com/" TargetMode="External"/><Relationship Id="rId7" Type="http://schemas.openxmlformats.org/officeDocument/2006/relationships/hyperlink" Target="https://github.com/InterLinked1" TargetMode="External"/><Relationship Id="rId2" Type="http://schemas.openxmlformats.org/officeDocument/2006/relationships/hyperlink" Target="mailto:mike@philtel.org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interlinked.us/" TargetMode="External"/><Relationship Id="rId5" Type="http://schemas.openxmlformats.org/officeDocument/2006/relationships/hyperlink" Target="mailto:interlinked@philtel.org" TargetMode="External"/><Relationship Id="rId10" Type="http://schemas.openxmlformats.org/officeDocument/2006/relationships/hyperlink" Target="https://github.com/philtelco/philtel-presentations/bsides-philly-2023" TargetMode="External"/><Relationship Id="rId4" Type="http://schemas.openxmlformats.org/officeDocument/2006/relationships/hyperlink" Target="https://github.com/Famicoman" TargetMode="External"/><Relationship Id="rId9" Type="http://schemas.openxmlformats.org/officeDocument/2006/relationships/hyperlink" Target="https://philtel.org/donat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>
                <a:latin typeface="Franklin Gothic Medium" panose="020B0603020102020204" pitchFamily="34" charset="0"/>
              </a:rPr>
              <a:t>Freephones</a:t>
            </a:r>
            <a:r>
              <a:rPr lang="en-US" dirty="0" smtClean="0">
                <a:latin typeface="Franklin Gothic Medium" panose="020B0603020102020204" pitchFamily="34" charset="0"/>
              </a:rPr>
              <a:t> - A look at free-to-use payphone projects via </a:t>
            </a:r>
            <a:r>
              <a:rPr lang="en-US" dirty="0" err="1" smtClean="0">
                <a:latin typeface="Franklin Gothic Medium" panose="020B0603020102020204" pitchFamily="34" charset="0"/>
              </a:rPr>
              <a:t>PhilTel</a:t>
            </a:r>
            <a:endParaRPr lang="en-US" dirty="0">
              <a:latin typeface="Franklin Gothic Medium" panose="020B0603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CAE3-19CC-4A93-81D1-16B62C9F2F5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02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>
                <a:solidFill>
                  <a:srgbClr val="333333"/>
                </a:solidFill>
                <a:latin typeface="Franklin Gothic Medium"/>
                <a:ea typeface="DejaVu Sans"/>
              </a:rPr>
              <a:t>Agenda</a:t>
            </a:r>
            <a:endParaRPr lang="en-US" sz="3300" spc="-1" dirty="0"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653102" y="1534952"/>
            <a:ext cx="7836575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Who are we?</a:t>
            </a:r>
            <a:endParaRPr lang="en-US" sz="2000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What’s a payphone?</a:t>
            </a:r>
            <a:endParaRPr lang="en-US" sz="2000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What happened to them?</a:t>
            </a:r>
            <a:endParaRPr lang="en-US" sz="2000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What are “</a:t>
            </a:r>
            <a:r>
              <a:rPr lang="en-US" sz="2000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freephones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”?</a:t>
            </a:r>
            <a:endParaRPr lang="en-US" sz="2000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What’s </a:t>
            </a:r>
            <a:r>
              <a:rPr lang="en-US" sz="2000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PhilTel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?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What have we learned?</a:t>
            </a:r>
            <a:endParaRPr lang="en-US" sz="2000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Future Plans</a:t>
            </a:r>
            <a:endParaRPr lang="en-US" sz="20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2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57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>
                <a:solidFill>
                  <a:srgbClr val="333333"/>
                </a:solidFill>
                <a:latin typeface="Franklin Gothic Medium"/>
                <a:ea typeface="DejaVu Sans"/>
              </a:rPr>
              <a:t>Who are You?</a:t>
            </a:r>
            <a:endParaRPr lang="en-US" sz="3300" spc="-1">
              <a:latin typeface="Arial"/>
            </a:endParaRPr>
          </a:p>
        </p:txBody>
      </p:sp>
      <p:sp>
        <p:nvSpPr>
          <p:cNvPr id="85" name="CustomShape 2"/>
          <p:cNvSpPr/>
          <p:nvPr/>
        </p:nvSpPr>
        <p:spPr>
          <a:xfrm>
            <a:off x="580608" y="1493149"/>
            <a:ext cx="4063929" cy="44435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spcAft>
                <a:spcPts val="1005"/>
              </a:spcAft>
            </a:pPr>
            <a:r>
              <a:rPr lang="en-US" sz="2000" b="1" spc="-1" dirty="0">
                <a:solidFill>
                  <a:srgbClr val="333333"/>
                </a:solidFill>
                <a:latin typeface="Franklin Gothic Medium"/>
                <a:ea typeface="DejaVu Sans"/>
              </a:rPr>
              <a:t>Mike</a:t>
            </a:r>
            <a:endParaRPr lang="en-US" sz="2000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Software engineer</a:t>
            </a:r>
            <a:endParaRPr lang="en-US" sz="2000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000000"/>
                </a:solidFill>
                <a:latin typeface="Franklin Gothic Medium"/>
                <a:ea typeface="DejaVu Sans"/>
              </a:rPr>
              <a:t>Philly 2600 (2012-)</a:t>
            </a:r>
            <a:endParaRPr lang="en-US" sz="2000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err="1">
                <a:solidFill>
                  <a:srgbClr val="333333"/>
                </a:solidFill>
                <a:latin typeface="Franklin Gothic Medium"/>
                <a:ea typeface="DejaVu Sans"/>
              </a:rPr>
              <a:t>FreePBX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/Asterisk user (2012-)</a:t>
            </a:r>
            <a:endParaRPr lang="en-US" sz="2000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Networks of Philly (2018-)</a:t>
            </a:r>
            <a:endParaRPr lang="en-US" sz="2000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err="1">
                <a:solidFill>
                  <a:srgbClr val="333333"/>
                </a:solidFill>
                <a:latin typeface="Franklin Gothic Medium"/>
                <a:ea typeface="DejaVu Sans"/>
              </a:rPr>
              <a:t>Dialup.world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 (2021-)</a:t>
            </a:r>
            <a:endParaRPr lang="en-US" sz="2000" spc="-1" dirty="0">
              <a:latin typeface="Arial"/>
            </a:endParaRPr>
          </a:p>
        </p:txBody>
      </p:sp>
      <p:sp>
        <p:nvSpPr>
          <p:cNvPr id="86" name="CustomShape 3"/>
          <p:cNvSpPr/>
          <p:nvPr/>
        </p:nvSpPr>
        <p:spPr>
          <a:xfrm>
            <a:off x="4669355" y="1493150"/>
            <a:ext cx="4205326" cy="476978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spcAft>
                <a:spcPts val="1005"/>
              </a:spcAft>
            </a:pPr>
            <a:r>
              <a:rPr lang="en-US" sz="2000" b="1" spc="-1">
                <a:solidFill>
                  <a:srgbClr val="333333"/>
                </a:solidFill>
                <a:latin typeface="Franklin Gothic Medium"/>
                <a:ea typeface="DejaVu Sans"/>
              </a:rPr>
              <a:t>Naveen</a:t>
            </a:r>
            <a:endParaRPr lang="en-US" sz="2000" spc="-1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>
                <a:solidFill>
                  <a:srgbClr val="333333"/>
                </a:solidFill>
                <a:latin typeface="Franklin Gothic Medium"/>
                <a:ea typeface="DejaVu Sans"/>
              </a:rPr>
              <a:t>Computer engineer, IT</a:t>
            </a:r>
            <a:endParaRPr lang="en-US" sz="2000" spc="-1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>
                <a:solidFill>
                  <a:srgbClr val="333333"/>
                </a:solidFill>
                <a:latin typeface="Franklin Gothic Medium"/>
                <a:ea typeface="DejaVu Sans"/>
              </a:rPr>
              <a:t>Telephone collector, phone phreak (2016-)</a:t>
            </a:r>
            <a:endParaRPr lang="en-US" sz="2000" spc="-1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>
                <a:solidFill>
                  <a:srgbClr val="333333"/>
                </a:solidFill>
                <a:latin typeface="Franklin Gothic Medium"/>
                <a:ea typeface="DejaVu Sans"/>
              </a:rPr>
              <a:t>Asterisk user (2018-)</a:t>
            </a:r>
            <a:endParaRPr lang="en-US" sz="2000" spc="-1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>
                <a:solidFill>
                  <a:srgbClr val="333333"/>
                </a:solidFill>
                <a:latin typeface="Franklin Gothic Medium"/>
                <a:ea typeface="DejaVu Sans"/>
              </a:rPr>
              <a:t>Payphone inventory (2019-)</a:t>
            </a:r>
            <a:endParaRPr lang="en-US" sz="2000" spc="-1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>
                <a:solidFill>
                  <a:srgbClr val="333333"/>
                </a:solidFill>
                <a:latin typeface="Franklin Gothic Medium"/>
                <a:ea typeface="DejaVu Sans"/>
              </a:rPr>
              <a:t>PhreakNet (2021-)</a:t>
            </a:r>
            <a:endParaRPr lang="en-US" sz="2000" spc="-1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>
                <a:solidFill>
                  <a:srgbClr val="333333"/>
                </a:solidFill>
                <a:latin typeface="Franklin Gothic Medium"/>
                <a:ea typeface="DejaVu Sans"/>
              </a:rPr>
              <a:t>Asterisk/DAHDI developer and consultant (2021-)</a:t>
            </a:r>
            <a:endParaRPr lang="en-US" sz="2000" spc="-1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>
                <a:solidFill>
                  <a:srgbClr val="333333"/>
                </a:solidFill>
                <a:latin typeface="Franklin Gothic Medium"/>
                <a:ea typeface="DejaVu Sans"/>
              </a:rPr>
              <a:t>BBS software developer (2022-)</a:t>
            </a:r>
            <a:endParaRPr lang="en-US" sz="2000" spc="-1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>
                <a:solidFill>
                  <a:srgbClr val="333333"/>
                </a:solidFill>
                <a:latin typeface="Franklin Gothic Medium"/>
                <a:ea typeface="DejaVu Sans"/>
              </a:rPr>
              <a:t>Environmental activist (2016-)</a:t>
            </a:r>
            <a:endParaRPr lang="en-US" sz="2000" spc="-1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3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107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593345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>
                <a:solidFill>
                  <a:srgbClr val="333333"/>
                </a:solidFill>
                <a:latin typeface="Franklin Gothic Medium"/>
                <a:ea typeface="DejaVu Sans"/>
              </a:rPr>
              <a:t>What is a Payphone?</a:t>
            </a:r>
            <a:endParaRPr lang="en-US" sz="3300" spc="-1">
              <a:latin typeface="Arial"/>
            </a:endParaRPr>
          </a:p>
        </p:txBody>
      </p:sp>
      <p:pic>
        <p:nvPicPr>
          <p:cNvPr id="88" name="Picture 87"/>
          <p:cNvPicPr/>
          <p:nvPr/>
        </p:nvPicPr>
        <p:blipFill>
          <a:blip r:embed="rId2"/>
          <a:stretch/>
        </p:blipFill>
        <p:spPr>
          <a:xfrm>
            <a:off x="1223914" y="1599616"/>
            <a:ext cx="6790632" cy="4432418"/>
          </a:xfrm>
          <a:prstGeom prst="rect">
            <a:avLst/>
          </a:prstGeom>
          <a:ln>
            <a:noFill/>
          </a:ln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4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8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593345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>
                <a:solidFill>
                  <a:srgbClr val="333333"/>
                </a:solidFill>
                <a:latin typeface="Franklin Gothic Medium"/>
                <a:ea typeface="DejaVu Sans"/>
              </a:rPr>
              <a:t>What is a Payphone?</a:t>
            </a:r>
            <a:endParaRPr lang="en-US" sz="3300" spc="-1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5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  <p:pic>
        <p:nvPicPr>
          <p:cNvPr id="7" name="Picture 2" descr="A dead payphone covered in stickers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5961" y="1447800"/>
            <a:ext cx="3253501" cy="4337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10+ Hundred Broken Pay Phone Royalty-Free Images, Stock Photos &amp; Pictures |  Shutterstoc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447800"/>
            <a:ext cx="3379343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0312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593345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>
                <a:solidFill>
                  <a:srgbClr val="333333"/>
                </a:solidFill>
                <a:latin typeface="Franklin Gothic Medium"/>
                <a:ea typeface="DejaVu Sans"/>
              </a:rPr>
              <a:t>What </a:t>
            </a: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happened to them?</a:t>
            </a:r>
            <a:endParaRPr lang="en-US" sz="33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6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9" y="1447800"/>
            <a:ext cx="4981934" cy="128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2809" y="2431268"/>
            <a:ext cx="4753810" cy="1427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9" y="3886200"/>
            <a:ext cx="6689185" cy="128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7197" y="5334000"/>
            <a:ext cx="4518327" cy="919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784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What happened to them?</a:t>
            </a:r>
            <a:endParaRPr lang="en-US" sz="3300" spc="-1" dirty="0"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7" y="1631692"/>
            <a:ext cx="9123840" cy="449587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7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82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593345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>
                <a:solidFill>
                  <a:srgbClr val="333333"/>
                </a:solidFill>
                <a:latin typeface="Franklin Gothic Medium"/>
                <a:ea typeface="DejaVu Sans"/>
              </a:rPr>
              <a:t>What </a:t>
            </a: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happened to them?</a:t>
            </a:r>
            <a:endParaRPr lang="en-US" sz="33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8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  <p:sp>
        <p:nvSpPr>
          <p:cNvPr id="13" name="CustomShape 2"/>
          <p:cNvSpPr/>
          <p:nvPr/>
        </p:nvSpPr>
        <p:spPr>
          <a:xfrm>
            <a:off x="653102" y="1534952"/>
            <a:ext cx="7836575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b="1" spc="-1" dirty="0" smtClean="0">
                <a:latin typeface="Arial"/>
              </a:rPr>
              <a:t>98%</a:t>
            </a:r>
            <a:r>
              <a:rPr lang="en-US" sz="2000" spc="-1" dirty="0" smtClean="0">
                <a:latin typeface="Arial"/>
              </a:rPr>
              <a:t> of adults in the USA have a cell phone (Pew Research)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latin typeface="Arial"/>
              </a:rPr>
              <a:t>Philadelphia population as of July 1 2024 is </a:t>
            </a:r>
            <a:r>
              <a:rPr lang="en-US" sz="2000" b="1" spc="-1" dirty="0" smtClean="0">
                <a:latin typeface="Arial"/>
              </a:rPr>
              <a:t>1,573,916</a:t>
            </a:r>
            <a:r>
              <a:rPr lang="en-US" sz="2000" spc="-1" dirty="0" smtClean="0">
                <a:latin typeface="Arial"/>
              </a:rPr>
              <a:t> (census.gov)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b="1" spc="-1" dirty="0" smtClean="0">
                <a:latin typeface="Arial"/>
              </a:rPr>
              <a:t>78.8%</a:t>
            </a:r>
            <a:r>
              <a:rPr lang="en-US" sz="2000" spc="-1" dirty="0" smtClean="0">
                <a:latin typeface="Arial"/>
              </a:rPr>
              <a:t> of Philadelphians are 18+ (census.gov)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latin typeface="Arial"/>
              </a:rPr>
              <a:t>(1573916*.788)*.02 = </a:t>
            </a:r>
            <a:r>
              <a:rPr lang="en-US" sz="2000" b="1" spc="-1" dirty="0" smtClean="0">
                <a:latin typeface="Arial"/>
              </a:rPr>
              <a:t>~24,808</a:t>
            </a:r>
            <a:r>
              <a:rPr lang="en-US" sz="2000" spc="-1" dirty="0" smtClean="0">
                <a:latin typeface="Arial"/>
              </a:rPr>
              <a:t> Philadelphia adults without a cell phone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latin typeface="Arial"/>
              </a:rPr>
              <a:t>Xfinity Mobile Arena max seated capacity: </a:t>
            </a:r>
            <a:r>
              <a:rPr lang="en-US" sz="2000" b="1" spc="-1" dirty="0" smtClean="0">
                <a:latin typeface="Arial"/>
              </a:rPr>
              <a:t>~21,000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 smtClean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 smtClean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2469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593345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>
                <a:solidFill>
                  <a:srgbClr val="333333"/>
                </a:solidFill>
                <a:latin typeface="Franklin Gothic Medium"/>
                <a:ea typeface="DejaVu Sans"/>
              </a:rPr>
              <a:t>What </a:t>
            </a: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happened to them?</a:t>
            </a:r>
            <a:endParaRPr lang="en-US" sz="33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9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  <p:sp>
        <p:nvSpPr>
          <p:cNvPr id="13" name="CustomShape 2"/>
          <p:cNvSpPr/>
          <p:nvPr/>
        </p:nvSpPr>
        <p:spPr>
          <a:xfrm>
            <a:off x="653102" y="1534952"/>
            <a:ext cx="7836575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 smtClean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 smtClean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>
              <a:latin typeface="Arial"/>
            </a:endParaRPr>
          </a:p>
        </p:txBody>
      </p:sp>
      <p:pic>
        <p:nvPicPr>
          <p:cNvPr id="7" name="Picture 2" descr="https://static01.nyt.com/images/2019/12/08/nyregion/08biglink/merlin_164834868_209d5f68-0d70-4c06-bfb3-7636fe44875c-superJumbo.jpg?quality=75&amp;auto=webp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234" y="1371600"/>
            <a:ext cx="7198309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3771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593345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What are </a:t>
            </a:r>
            <a:r>
              <a:rPr lang="en-US" sz="3300" b="1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Freephones</a:t>
            </a: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?</a:t>
            </a:r>
            <a:endParaRPr lang="en-US" sz="33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10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  <p:sp>
        <p:nvSpPr>
          <p:cNvPr id="13" name="CustomShape 2"/>
          <p:cNvSpPr/>
          <p:nvPr/>
        </p:nvSpPr>
        <p:spPr>
          <a:xfrm>
            <a:off x="653102" y="1534952"/>
            <a:ext cx="7836575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latin typeface="Arial"/>
              </a:rPr>
              <a:t>Essentially, payphones but </a:t>
            </a:r>
            <a:r>
              <a:rPr lang="en-US" sz="2000" b="1" spc="-1" dirty="0" smtClean="0">
                <a:latin typeface="Arial"/>
              </a:rPr>
              <a:t>free-to-use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latin typeface="Arial"/>
              </a:rPr>
              <a:t>Public-use, courtesy phones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latin typeface="Arial"/>
              </a:rPr>
              <a:t>Often older payphones or armored phones because they are rugged, vandal-proof, and weather resistant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latin typeface="Arial"/>
              </a:rPr>
              <a:t>Anyone can set up a </a:t>
            </a:r>
            <a:r>
              <a:rPr lang="en-US" sz="2000" spc="-1" dirty="0" err="1" smtClean="0">
                <a:latin typeface="Arial"/>
              </a:rPr>
              <a:t>freephone</a:t>
            </a:r>
            <a:r>
              <a:rPr lang="en-US" sz="2000" spc="-1" dirty="0" smtClean="0">
                <a:latin typeface="Arial"/>
              </a:rPr>
              <a:t>, you don’t need to be a telephone company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latin typeface="Arial"/>
              </a:rPr>
              <a:t>Often utilize VoIP for phone service, off-the-shelf hardware, and open-source software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latin typeface="Arial"/>
              </a:rPr>
              <a:t>May have unique services and </a:t>
            </a:r>
            <a:r>
              <a:rPr lang="en-US" sz="2000" spc="-1" dirty="0" err="1" smtClean="0">
                <a:latin typeface="Arial"/>
              </a:rPr>
              <a:t>easter</a:t>
            </a:r>
            <a:r>
              <a:rPr lang="en-US" sz="2000" spc="-1" dirty="0">
                <a:latin typeface="Arial"/>
              </a:rPr>
              <a:t>-</a:t>
            </a:r>
            <a:r>
              <a:rPr lang="en-US" sz="2000" spc="-1" dirty="0" smtClean="0">
                <a:latin typeface="Arial"/>
              </a:rPr>
              <a:t>eggs, including operator services, connection to collectors’ networks, etc.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 smtClean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5750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593345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What are </a:t>
            </a:r>
            <a:r>
              <a:rPr lang="en-US" sz="3300" b="1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Freephones</a:t>
            </a: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?</a:t>
            </a:r>
            <a:endParaRPr lang="en-US" sz="33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11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  <p:sp>
        <p:nvSpPr>
          <p:cNvPr id="13" name="CustomShape 2"/>
          <p:cNvSpPr/>
          <p:nvPr/>
        </p:nvSpPr>
        <p:spPr>
          <a:xfrm>
            <a:off x="653102" y="1534952"/>
            <a:ext cx="7836575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latin typeface="Arial"/>
              </a:rPr>
              <a:t>The first </a:t>
            </a:r>
            <a:r>
              <a:rPr lang="en-US" sz="2000" spc="-1" dirty="0" err="1" smtClean="0">
                <a:latin typeface="Arial"/>
              </a:rPr>
              <a:t>freephone</a:t>
            </a:r>
            <a:r>
              <a:rPr lang="en-US" sz="2000" spc="-1" dirty="0" smtClean="0">
                <a:latin typeface="Arial"/>
              </a:rPr>
              <a:t> project is likely </a:t>
            </a:r>
            <a:r>
              <a:rPr lang="en-US" sz="2000" b="1" spc="-1" dirty="0" err="1" smtClean="0">
                <a:latin typeface="Arial"/>
              </a:rPr>
              <a:t>Futel</a:t>
            </a:r>
            <a:r>
              <a:rPr lang="en-US" sz="2000" spc="-1" dirty="0" smtClean="0">
                <a:latin typeface="Arial"/>
              </a:rPr>
              <a:t>, based in Portland Oregon, started in 2014 by Karl Anderson and Elijah St. Clair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latin typeface="Arial"/>
              </a:rPr>
              <a:t>Started with one phone in Karl’s front yard, now has 17 phones in 3 states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 smtClean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 smtClean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>
              <a:latin typeface="Arial"/>
            </a:endParaRPr>
          </a:p>
        </p:txBody>
      </p:sp>
      <p:pic>
        <p:nvPicPr>
          <p:cNvPr id="7" name="Picture 2" descr="Old Hardware, A New Twist: The No-Pay Phone - OP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713438"/>
            <a:ext cx="5362575" cy="3611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6192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593345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What are </a:t>
            </a:r>
            <a:r>
              <a:rPr lang="en-US" sz="3300" b="1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Freephones</a:t>
            </a: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?</a:t>
            </a:r>
            <a:endParaRPr lang="en-US" sz="33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12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  <p:sp>
        <p:nvSpPr>
          <p:cNvPr id="13" name="CustomShape 2"/>
          <p:cNvSpPr/>
          <p:nvPr/>
        </p:nvSpPr>
        <p:spPr>
          <a:xfrm>
            <a:off x="653102" y="1534952"/>
            <a:ext cx="7836575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err="1" smtClean="0">
                <a:latin typeface="Arial"/>
              </a:rPr>
              <a:t>Freephone</a:t>
            </a:r>
            <a:r>
              <a:rPr lang="en-US" sz="2000" spc="-1" dirty="0" smtClean="0">
                <a:latin typeface="Arial"/>
              </a:rPr>
              <a:t> Projects (that we know of)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err="1" smtClean="0">
                <a:latin typeface="Arial"/>
              </a:rPr>
              <a:t>Futel</a:t>
            </a:r>
            <a:r>
              <a:rPr lang="en-US" sz="2000" spc="-1" dirty="0" smtClean="0">
                <a:latin typeface="Arial"/>
              </a:rPr>
              <a:t> - Portland, OR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b="1" spc="-1" dirty="0" err="1" smtClean="0">
                <a:latin typeface="Arial"/>
              </a:rPr>
              <a:t>PhilTel</a:t>
            </a:r>
            <a:r>
              <a:rPr lang="en-US" sz="2000" b="1" spc="-1" dirty="0" smtClean="0">
                <a:latin typeface="Arial"/>
              </a:rPr>
              <a:t> – Philadelphia, PA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err="1" smtClean="0">
                <a:latin typeface="Arial"/>
              </a:rPr>
              <a:t>RandTel</a:t>
            </a:r>
            <a:r>
              <a:rPr lang="en-US" sz="2000" spc="-1" dirty="0" smtClean="0">
                <a:latin typeface="Arial"/>
              </a:rPr>
              <a:t> - Central VT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latin typeface="Arial"/>
              </a:rPr>
              <a:t>Good Phone Project – Monroe County, NY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latin typeface="Arial"/>
              </a:rPr>
              <a:t>0Dial – Canada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latin typeface="Arial"/>
              </a:rPr>
              <a:t>OIRCT - France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 smtClean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28519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What is </a:t>
            </a:r>
            <a:r>
              <a:rPr lang="en-US" sz="3300" b="1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PhilTel</a:t>
            </a: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?</a:t>
            </a:r>
            <a:endParaRPr lang="en-US" sz="3300" spc="-1" dirty="0">
              <a:latin typeface="Arial"/>
            </a:endParaRPr>
          </a:p>
        </p:txBody>
      </p:sp>
      <p:sp>
        <p:nvSpPr>
          <p:cNvPr id="139" name="CustomShape 2"/>
          <p:cNvSpPr/>
          <p:nvPr/>
        </p:nvSpPr>
        <p:spPr>
          <a:xfrm>
            <a:off x="653102" y="1600269"/>
            <a:ext cx="7836575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b="1" spc="-1" dirty="0" err="1">
                <a:solidFill>
                  <a:srgbClr val="333333"/>
                </a:solidFill>
                <a:latin typeface="Franklin Gothic Medium"/>
                <a:ea typeface="DejaVu Sans"/>
              </a:rPr>
              <a:t>PhilTel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 is inspired by </a:t>
            </a:r>
            <a:r>
              <a:rPr lang="en-US" sz="2000" spc="-1" dirty="0" err="1">
                <a:solidFill>
                  <a:srgbClr val="333333"/>
                </a:solidFill>
                <a:latin typeface="Franklin Gothic Medium"/>
                <a:ea typeface="DejaVu Sans"/>
              </a:rPr>
              <a:t>Futel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, 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but based in </a:t>
            </a:r>
            <a:r>
              <a:rPr lang="en-US" sz="20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Philadelphia</a:t>
            </a:r>
            <a:endParaRPr lang="en-US" sz="2000" b="1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Bring payphones back but make them free-to-use this time 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because 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payphones are cool</a:t>
            </a:r>
            <a:endParaRPr lang="en-US" sz="2000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Use as much discarded and second-hand stuff as we can, build with COTS hardware and open-source software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Large upfront cost (&gt;$300), small recurring cost (&lt;$10/</a:t>
            </a:r>
            <a:r>
              <a:rPr lang="en-US" sz="2000" spc="-1" dirty="0" err="1">
                <a:solidFill>
                  <a:srgbClr val="333333"/>
                </a:solidFill>
                <a:latin typeface="Franklin Gothic Medium"/>
                <a:ea typeface="DejaVu Sans"/>
              </a:rPr>
              <a:t>mo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)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Benefit people without cell 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phones, preserve public telephony</a:t>
            </a:r>
            <a:endParaRPr lang="en-US" sz="2000" spc="-1" dirty="0">
              <a:solidFill>
                <a:srgbClr val="333333"/>
              </a:solidFill>
              <a:latin typeface="Franklin Gothic Medium"/>
              <a:ea typeface="DejaVu Sans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>
              <a:latin typeface="Arial"/>
            </a:endParaRPr>
          </a:p>
        </p:txBody>
      </p:sp>
      <p:pic>
        <p:nvPicPr>
          <p:cNvPr id="140" name="Picture 103"/>
          <p:cNvPicPr/>
          <p:nvPr/>
        </p:nvPicPr>
        <p:blipFill>
          <a:blip r:embed="rId2"/>
          <a:stretch/>
        </p:blipFill>
        <p:spPr>
          <a:xfrm>
            <a:off x="2014560" y="4465909"/>
            <a:ext cx="4315680" cy="1468954"/>
          </a:xfrm>
          <a:prstGeom prst="rect">
            <a:avLst/>
          </a:prstGeom>
          <a:ln>
            <a:noFill/>
          </a:ln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13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210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The First Phone</a:t>
            </a:r>
            <a:endParaRPr lang="en-US" sz="3300" spc="-1" dirty="0">
              <a:latin typeface="Arial"/>
            </a:endParaRPr>
          </a:p>
        </p:txBody>
      </p:sp>
      <p:pic>
        <p:nvPicPr>
          <p:cNvPr id="142" name="Picture 105"/>
          <p:cNvPicPr/>
          <p:nvPr/>
        </p:nvPicPr>
        <p:blipFill>
          <a:blip r:embed="rId2"/>
          <a:stretch/>
        </p:blipFill>
        <p:spPr>
          <a:xfrm>
            <a:off x="2820096" y="1410196"/>
            <a:ext cx="2848179" cy="4727651"/>
          </a:xfrm>
          <a:prstGeom prst="rect">
            <a:avLst/>
          </a:prstGeom>
          <a:ln>
            <a:noFill/>
          </a:ln>
        </p:spPr>
      </p:pic>
      <p:pic>
        <p:nvPicPr>
          <p:cNvPr id="143" name="Picture 106"/>
          <p:cNvPicPr/>
          <p:nvPr/>
        </p:nvPicPr>
        <p:blipFill>
          <a:blip r:embed="rId3"/>
          <a:stretch/>
        </p:blipFill>
        <p:spPr>
          <a:xfrm>
            <a:off x="5756771" y="1327243"/>
            <a:ext cx="3283472" cy="4810604"/>
          </a:xfrm>
          <a:prstGeom prst="rect">
            <a:avLst/>
          </a:prstGeom>
          <a:ln>
            <a:noFill/>
          </a:ln>
        </p:spPr>
      </p:pic>
      <p:pic>
        <p:nvPicPr>
          <p:cNvPr id="144" name="Picture 107"/>
          <p:cNvPicPr/>
          <p:nvPr/>
        </p:nvPicPr>
        <p:blipFill>
          <a:blip r:embed="rId4"/>
          <a:stretch/>
        </p:blipFill>
        <p:spPr>
          <a:xfrm>
            <a:off x="171114" y="1418362"/>
            <a:ext cx="2505301" cy="4719813"/>
          </a:xfrm>
          <a:prstGeom prst="rect">
            <a:avLst/>
          </a:prstGeom>
          <a:ln>
            <a:noFill/>
          </a:ln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14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969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>
                <a:solidFill>
                  <a:srgbClr val="333333"/>
                </a:solidFill>
                <a:latin typeface="Franklin Gothic Medium"/>
                <a:ea typeface="DejaVu Sans"/>
              </a:rPr>
              <a:t>2110V Coinless Board</a:t>
            </a:r>
            <a:endParaRPr lang="en-US" sz="3300" spc="-1">
              <a:latin typeface="Arial"/>
            </a:endParaRPr>
          </a:p>
        </p:txBody>
      </p:sp>
      <p:pic>
        <p:nvPicPr>
          <p:cNvPr id="151" name="Picture 112"/>
          <p:cNvPicPr/>
          <p:nvPr/>
        </p:nvPicPr>
        <p:blipFill>
          <a:blip r:embed="rId2"/>
          <a:stretch/>
        </p:blipFill>
        <p:spPr>
          <a:xfrm>
            <a:off x="4893696" y="1427505"/>
            <a:ext cx="4076012" cy="4461484"/>
          </a:xfrm>
          <a:prstGeom prst="rect">
            <a:avLst/>
          </a:prstGeom>
          <a:ln>
            <a:noFill/>
          </a:ln>
        </p:spPr>
      </p:pic>
      <p:sp>
        <p:nvSpPr>
          <p:cNvPr id="152" name="CustomShape 2"/>
          <p:cNvSpPr/>
          <p:nvPr/>
        </p:nvSpPr>
        <p:spPr>
          <a:xfrm>
            <a:off x="620447" y="1469635"/>
            <a:ext cx="3940820" cy="45852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“Dumb” phone board made for armored phones</a:t>
            </a:r>
            <a:endParaRPr lang="en-US" sz="2000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Acts as an (almost) drop-in replacement board for 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most GTE-style 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payphones</a:t>
            </a:r>
            <a:endParaRPr lang="en-US" sz="2000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No longer 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made (but still available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)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Good solution if you don’t want to mess with </a:t>
            </a:r>
            <a:r>
              <a:rPr lang="en-US" sz="2000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Protel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 hardware/software</a:t>
            </a:r>
            <a:endParaRPr lang="en-US" sz="20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15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539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>
                <a:solidFill>
                  <a:srgbClr val="333333"/>
                </a:solidFill>
                <a:latin typeface="Franklin Gothic Medium"/>
                <a:ea typeface="DejaVu Sans"/>
              </a:rPr>
              <a:t>2110V Coinless Board (Continued)</a:t>
            </a:r>
            <a:endParaRPr lang="en-US" sz="3300" spc="-1">
              <a:latin typeface="Arial"/>
            </a:endParaRPr>
          </a:p>
        </p:txBody>
      </p:sp>
      <p:pic>
        <p:nvPicPr>
          <p:cNvPr id="154" name="Picture 115"/>
          <p:cNvPicPr/>
          <p:nvPr/>
        </p:nvPicPr>
        <p:blipFill>
          <a:blip r:embed="rId2"/>
          <a:stretch/>
        </p:blipFill>
        <p:spPr>
          <a:xfrm>
            <a:off x="2052375" y="1418362"/>
            <a:ext cx="4582493" cy="4497408"/>
          </a:xfrm>
          <a:prstGeom prst="rect">
            <a:avLst/>
          </a:prstGeom>
          <a:ln>
            <a:noFill/>
          </a:ln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16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67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Picture 121"/>
          <p:cNvPicPr/>
          <p:nvPr/>
        </p:nvPicPr>
        <p:blipFill>
          <a:blip r:embed="rId2"/>
          <a:stretch/>
        </p:blipFill>
        <p:spPr>
          <a:xfrm>
            <a:off x="4648457" y="1742008"/>
            <a:ext cx="4225899" cy="4226343"/>
          </a:xfrm>
          <a:prstGeom prst="rect">
            <a:avLst/>
          </a:prstGeom>
          <a:ln>
            <a:noFill/>
          </a:ln>
        </p:spPr>
      </p:pic>
      <p:sp>
        <p:nvSpPr>
          <p:cNvPr id="158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>
                <a:solidFill>
                  <a:srgbClr val="333333"/>
                </a:solidFill>
                <a:latin typeface="Franklin Gothic Medium"/>
                <a:ea typeface="DejaVu Sans"/>
              </a:rPr>
              <a:t>Grandstream HT801 ATA</a:t>
            </a:r>
            <a:endParaRPr lang="en-US" sz="3300" spc="-1">
              <a:latin typeface="Arial"/>
            </a:endParaRPr>
          </a:p>
        </p:txBody>
      </p:sp>
      <p:sp>
        <p:nvSpPr>
          <p:cNvPr id="159" name="CustomShape 2"/>
          <p:cNvSpPr/>
          <p:nvPr/>
        </p:nvSpPr>
        <p:spPr>
          <a:xfrm>
            <a:off x="653103" y="1632927"/>
            <a:ext cx="4239941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Analog Telephone Adapter</a:t>
            </a:r>
            <a:endParaRPr lang="en-US" sz="2000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Allows analog telephones to speak SIP (Session Initiation Protocol)</a:t>
            </a:r>
            <a:endParaRPr lang="en-US" sz="2000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Registers as a client to our telephone exchange so we can make/take 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calls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Remotely monitored with GDMS (</a:t>
            </a:r>
            <a:r>
              <a:rPr lang="en-US" sz="2000" spc="-1" dirty="0" err="1">
                <a:solidFill>
                  <a:srgbClr val="333333"/>
                </a:solidFill>
                <a:latin typeface="Franklin Gothic Medium"/>
                <a:ea typeface="DejaVu Sans"/>
              </a:rPr>
              <a:t>Grandstream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 Device Management System) for free!</a:t>
            </a:r>
            <a:endParaRPr lang="en-US" sz="20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17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033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CustomShape 1"/>
          <p:cNvSpPr/>
          <p:nvPr/>
        </p:nvSpPr>
        <p:spPr>
          <a:xfrm rot="5400000">
            <a:off x="3330960" y="-1070452"/>
            <a:ext cx="3594400" cy="8031526"/>
          </a:xfrm>
          <a:prstGeom prst="rtTriangle">
            <a:avLst/>
          </a:prstGeom>
          <a:gradFill rotWithShape="0">
            <a:gsLst>
              <a:gs pos="0">
                <a:srgbClr val="9AB4E4"/>
              </a:gs>
              <a:gs pos="100000">
                <a:srgbClr val="C1D1EC">
                  <a:alpha val="0"/>
                </a:srgbClr>
              </a:gs>
            </a:gsLst>
            <a:lin ang="8100000"/>
          </a:gra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8" name="CustomShape 2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>
                <a:solidFill>
                  <a:srgbClr val="333333"/>
                </a:solidFill>
                <a:latin typeface="Franklin Gothic Medium"/>
                <a:ea typeface="DejaVu Sans"/>
              </a:rPr>
              <a:t>Asterisk</a:t>
            </a:r>
            <a:endParaRPr lang="en-US" sz="3300" spc="-1">
              <a:latin typeface="Arial"/>
            </a:endParaRPr>
          </a:p>
        </p:txBody>
      </p:sp>
      <p:pic>
        <p:nvPicPr>
          <p:cNvPr id="169" name="Picture 2" descr="https://asterisk.phreaknet.org/fonts/confluence-logo.png"/>
          <p:cNvPicPr/>
          <p:nvPr/>
        </p:nvPicPr>
        <p:blipFill>
          <a:blip r:embed="rId2"/>
          <a:stretch/>
        </p:blipFill>
        <p:spPr>
          <a:xfrm>
            <a:off x="141070" y="-193011"/>
            <a:ext cx="1891711" cy="414437"/>
          </a:xfrm>
          <a:prstGeom prst="rect">
            <a:avLst/>
          </a:prstGeom>
          <a:ln>
            <a:noFill/>
          </a:ln>
        </p:spPr>
      </p:pic>
      <p:pic>
        <p:nvPicPr>
          <p:cNvPr id="170" name="Picture 6" descr="https://www.asterisk.org/wp-content/uploads/asterisk-logo.png"/>
          <p:cNvPicPr/>
          <p:nvPr/>
        </p:nvPicPr>
        <p:blipFill>
          <a:blip r:embed="rId3"/>
          <a:stretch/>
        </p:blipFill>
        <p:spPr>
          <a:xfrm>
            <a:off x="1170359" y="1814510"/>
            <a:ext cx="2881161" cy="1589491"/>
          </a:xfrm>
          <a:prstGeom prst="rect">
            <a:avLst/>
          </a:prstGeom>
          <a:ln>
            <a:noFill/>
          </a:ln>
        </p:spPr>
      </p:pic>
      <p:pic>
        <p:nvPicPr>
          <p:cNvPr id="171" name="Picture 7"/>
          <p:cNvPicPr/>
          <p:nvPr/>
        </p:nvPicPr>
        <p:blipFill>
          <a:blip r:embed="rId4"/>
          <a:stretch/>
        </p:blipFill>
        <p:spPr>
          <a:xfrm>
            <a:off x="5712360" y="1694000"/>
            <a:ext cx="2112786" cy="1986293"/>
          </a:xfrm>
          <a:prstGeom prst="rect">
            <a:avLst/>
          </a:prstGeom>
          <a:ln>
            <a:noFill/>
          </a:ln>
        </p:spPr>
      </p:pic>
      <p:sp>
        <p:nvSpPr>
          <p:cNvPr id="172" name="CustomShape 3"/>
          <p:cNvSpPr/>
          <p:nvPr/>
        </p:nvSpPr>
        <p:spPr>
          <a:xfrm>
            <a:off x="4157324" y="2461149"/>
            <a:ext cx="1555037" cy="32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A7EBB"/>
            </a:solidFill>
            <a:round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3" name="CustomShape 4"/>
          <p:cNvSpPr/>
          <p:nvPr/>
        </p:nvSpPr>
        <p:spPr>
          <a:xfrm>
            <a:off x="4669193" y="2046385"/>
            <a:ext cx="1043167" cy="63642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81631" tIns="40816" rIns="81631" bIns="40816">
            <a:spAutoFit/>
          </a:bodyPr>
          <a:lstStyle/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0000"/>
                </a:solidFill>
                <a:latin typeface="Franklin Gothic Book"/>
                <a:ea typeface="DejaVu Sans"/>
              </a:rPr>
              <a:t>SIP/RTP</a:t>
            </a:r>
            <a:endParaRPr lang="en-US" spc="-1" dirty="0">
              <a:latin typeface="Arial"/>
            </a:endParaRPr>
          </a:p>
        </p:txBody>
      </p:sp>
      <p:pic>
        <p:nvPicPr>
          <p:cNvPr id="174" name="Picture 6" descr="https://www.asterisk.org/wp-content/uploads/asterisk-logo.png"/>
          <p:cNvPicPr/>
          <p:nvPr/>
        </p:nvPicPr>
        <p:blipFill>
          <a:blip r:embed="rId3"/>
          <a:stretch/>
        </p:blipFill>
        <p:spPr>
          <a:xfrm>
            <a:off x="433333" y="4466057"/>
            <a:ext cx="1503115" cy="829201"/>
          </a:xfrm>
          <a:prstGeom prst="rect">
            <a:avLst/>
          </a:prstGeom>
          <a:ln>
            <a:noFill/>
          </a:ln>
        </p:spPr>
      </p:pic>
      <p:sp>
        <p:nvSpPr>
          <p:cNvPr id="175" name="CustomShape 5"/>
          <p:cNvSpPr/>
          <p:nvPr/>
        </p:nvSpPr>
        <p:spPr>
          <a:xfrm flipV="1">
            <a:off x="1519769" y="3626406"/>
            <a:ext cx="1461970" cy="76910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A7EBB"/>
            </a:solidFill>
            <a:round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6" name="CustomShape 6"/>
          <p:cNvSpPr/>
          <p:nvPr/>
        </p:nvSpPr>
        <p:spPr>
          <a:xfrm>
            <a:off x="1519769" y="3695641"/>
            <a:ext cx="731148" cy="35942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81631" tIns="40816" rIns="81631" bIns="40816">
            <a:spAutoFit/>
          </a:bodyPr>
          <a:lstStyle/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0000"/>
                </a:solidFill>
                <a:latin typeface="Franklin Gothic Book"/>
                <a:ea typeface="DejaVu Sans"/>
              </a:rPr>
              <a:t>IAX2</a:t>
            </a:r>
            <a:endParaRPr lang="en-US" spc="-1" dirty="0">
              <a:latin typeface="Arial"/>
            </a:endParaRPr>
          </a:p>
        </p:txBody>
      </p:sp>
      <p:pic>
        <p:nvPicPr>
          <p:cNvPr id="177" name="Picture 8" descr="https://arcelect.com/adit600.jpg"/>
          <p:cNvPicPr/>
          <p:nvPr/>
        </p:nvPicPr>
        <p:blipFill>
          <a:blip r:embed="rId5"/>
          <a:stretch/>
        </p:blipFill>
        <p:spPr>
          <a:xfrm>
            <a:off x="5289149" y="4189438"/>
            <a:ext cx="1796685" cy="1226655"/>
          </a:xfrm>
          <a:prstGeom prst="rect">
            <a:avLst/>
          </a:prstGeom>
          <a:ln>
            <a:noFill/>
          </a:ln>
        </p:spPr>
      </p:pic>
      <p:sp>
        <p:nvSpPr>
          <p:cNvPr id="178" name="CustomShape 7"/>
          <p:cNvSpPr/>
          <p:nvPr/>
        </p:nvSpPr>
        <p:spPr>
          <a:xfrm>
            <a:off x="3604472" y="3627385"/>
            <a:ext cx="1520422" cy="90725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A7EBB"/>
            </a:solidFill>
            <a:round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9" name="CustomShape 8"/>
          <p:cNvSpPr/>
          <p:nvPr/>
        </p:nvSpPr>
        <p:spPr>
          <a:xfrm>
            <a:off x="4217735" y="3627386"/>
            <a:ext cx="837604" cy="63642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1" tIns="40816" rIns="81631" bIns="40816">
            <a:spAutoFit/>
          </a:bodyPr>
          <a:lstStyle/>
          <a:p>
            <a:pPr>
              <a:lnSpc>
                <a:spcPct val="100000"/>
              </a:lnSpc>
            </a:pPr>
            <a:r>
              <a:rPr lang="en-US" b="1" spc="-1">
                <a:solidFill>
                  <a:srgbClr val="000000"/>
                </a:solidFill>
                <a:latin typeface="Franklin Gothic Book"/>
                <a:ea typeface="DejaVu Sans"/>
              </a:rPr>
              <a:t>DAHDI</a:t>
            </a:r>
            <a:endParaRPr lang="en-US" spc="-1">
              <a:latin typeface="Arial"/>
            </a:endParaRPr>
          </a:p>
        </p:txBody>
      </p:sp>
      <p:sp>
        <p:nvSpPr>
          <p:cNvPr id="180" name="CustomShape 9"/>
          <p:cNvSpPr/>
          <p:nvPr/>
        </p:nvSpPr>
        <p:spPr>
          <a:xfrm>
            <a:off x="4008090" y="4185846"/>
            <a:ext cx="418639" cy="63642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1" tIns="40816" rIns="81631" bIns="40816">
            <a:spAutoFit/>
          </a:bodyPr>
          <a:lstStyle/>
          <a:p>
            <a:pPr>
              <a:lnSpc>
                <a:spcPct val="100000"/>
              </a:lnSpc>
            </a:pPr>
            <a:r>
              <a:rPr lang="en-US" b="1" spc="-1">
                <a:solidFill>
                  <a:srgbClr val="000000"/>
                </a:solidFill>
                <a:latin typeface="Franklin Gothic Book"/>
                <a:ea typeface="DejaVu Sans"/>
              </a:rPr>
              <a:t>T1</a:t>
            </a:r>
            <a:endParaRPr lang="en-US" spc="-1">
              <a:latin typeface="Arial"/>
            </a:endParaRPr>
          </a:p>
        </p:txBody>
      </p:sp>
      <p:sp>
        <p:nvSpPr>
          <p:cNvPr id="181" name="CustomShape 10"/>
          <p:cNvSpPr/>
          <p:nvPr/>
        </p:nvSpPr>
        <p:spPr>
          <a:xfrm>
            <a:off x="3467320" y="1286094"/>
            <a:ext cx="750088" cy="4209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1" tIns="40816" rIns="81631" bIns="40816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200" spc="-1">
                <a:solidFill>
                  <a:srgbClr val="000000"/>
                </a:solidFill>
                <a:latin typeface="Franklin Gothic Medium"/>
                <a:ea typeface="DejaVu Sans"/>
              </a:rPr>
              <a:t>VoIP</a:t>
            </a:r>
            <a:endParaRPr lang="en-US" sz="2200" spc="-1">
              <a:latin typeface="Arial"/>
            </a:endParaRPr>
          </a:p>
        </p:txBody>
      </p:sp>
      <p:sp>
        <p:nvSpPr>
          <p:cNvPr id="2" name="Cloud Callout 1"/>
          <p:cNvSpPr/>
          <p:nvPr/>
        </p:nvSpPr>
        <p:spPr>
          <a:xfrm>
            <a:off x="2969390" y="387400"/>
            <a:ext cx="1235996" cy="622145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936" tIns="41469" rIns="82936" bIns="41469" rtlCol="0" anchor="ctr"/>
          <a:lstStyle/>
          <a:p>
            <a:pPr algn="ctr"/>
            <a:endParaRPr lang="en-US"/>
          </a:p>
        </p:txBody>
      </p:sp>
      <p:sp>
        <p:nvSpPr>
          <p:cNvPr id="18" name="CustomShape 3"/>
          <p:cNvSpPr/>
          <p:nvPr/>
        </p:nvSpPr>
        <p:spPr>
          <a:xfrm flipV="1">
            <a:off x="2610940" y="1094389"/>
            <a:ext cx="716900" cy="71750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A7EBB"/>
            </a:solidFill>
            <a:round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" name="CustomShape 4"/>
          <p:cNvSpPr/>
          <p:nvPr/>
        </p:nvSpPr>
        <p:spPr>
          <a:xfrm>
            <a:off x="4329954" y="408956"/>
            <a:ext cx="1278845" cy="63642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81631" tIns="40816" rIns="81631" bIns="40816">
            <a:spAutoFit/>
          </a:bodyPr>
          <a:lstStyle/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0000"/>
                </a:solidFill>
                <a:latin typeface="Franklin Gothic Book"/>
                <a:ea typeface="DejaVu Sans"/>
              </a:rPr>
              <a:t>SIP provider</a:t>
            </a:r>
            <a:endParaRPr lang="en-US" spc="-1" dirty="0">
              <a:latin typeface="Arial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18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525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>
                <a:solidFill>
                  <a:srgbClr val="333333"/>
                </a:solidFill>
                <a:latin typeface="Franklin Gothic Medium"/>
                <a:ea typeface="DejaVu Sans"/>
              </a:rPr>
              <a:t>Our Portable Proof of Concept</a:t>
            </a:r>
            <a:endParaRPr lang="en-US" sz="3300" spc="-1" dirty="0">
              <a:latin typeface="Arial"/>
            </a:endParaRPr>
          </a:p>
        </p:txBody>
      </p:sp>
      <p:pic>
        <p:nvPicPr>
          <p:cNvPr id="1026" name="Picture 2" descr="Ima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73" y="2189473"/>
            <a:ext cx="4543679" cy="3408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Picture 118"/>
          <p:cNvPicPr/>
          <p:nvPr/>
        </p:nvPicPr>
        <p:blipFill>
          <a:blip r:embed="rId3"/>
          <a:stretch/>
        </p:blipFill>
        <p:spPr>
          <a:xfrm>
            <a:off x="4779360" y="1562565"/>
            <a:ext cx="4071048" cy="4385429"/>
          </a:xfrm>
          <a:prstGeom prst="rect">
            <a:avLst/>
          </a:prstGeom>
          <a:ln>
            <a:noFill/>
          </a:ln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19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607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>
                <a:solidFill>
                  <a:srgbClr val="333333"/>
                </a:solidFill>
                <a:latin typeface="Franklin Gothic Medium"/>
                <a:ea typeface="DejaVu Sans"/>
              </a:rPr>
              <a:t>Flagship Phone @ IffyBooks</a:t>
            </a:r>
            <a:endParaRPr lang="en-US" sz="3300" spc="-1">
              <a:latin typeface="Arial"/>
            </a:endParaRPr>
          </a:p>
        </p:txBody>
      </p:sp>
      <p:sp>
        <p:nvSpPr>
          <p:cNvPr id="197" name="CustomShape 2"/>
          <p:cNvSpPr/>
          <p:nvPr/>
        </p:nvSpPr>
        <p:spPr>
          <a:xfrm>
            <a:off x="653103" y="1418361"/>
            <a:ext cx="3908165" cy="45183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Initially Installed </a:t>
            </a:r>
            <a:r>
              <a:rPr lang="en-US" sz="2000" spc="-1" dirty="0">
                <a:solidFill>
                  <a:srgbClr val="333333"/>
                </a:solidFill>
                <a:latin typeface="Franklin Gothic Medium"/>
                <a:ea typeface="DejaVu Sans"/>
              </a:rPr>
              <a:t>December 17, 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2022, reinstalled several times since. 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latin typeface="Franklin Gothic Medium" panose="020B0603020102020204" pitchFamily="34" charset="0"/>
              </a:rPr>
              <a:t>Had </a:t>
            </a:r>
            <a:r>
              <a:rPr lang="en-US" sz="2000" spc="-1" dirty="0">
                <a:latin typeface="Franklin Gothic Medium" panose="020B0603020102020204" pitchFamily="34" charset="0"/>
              </a:rPr>
              <a:t>a party, hackers and </a:t>
            </a:r>
            <a:r>
              <a:rPr lang="en-US" sz="2000" spc="-1" dirty="0" err="1">
                <a:latin typeface="Franklin Gothic Medium" panose="020B0603020102020204" pitchFamily="34" charset="0"/>
              </a:rPr>
              <a:t>phreakers</a:t>
            </a:r>
            <a:r>
              <a:rPr lang="en-US" sz="2000" spc="-1" dirty="0">
                <a:latin typeface="Franklin Gothic Medium" panose="020B0603020102020204" pitchFamily="34" charset="0"/>
              </a:rPr>
              <a:t> showed </a:t>
            </a:r>
            <a:r>
              <a:rPr lang="en-US" sz="2000" spc="-1" dirty="0" smtClean="0">
                <a:latin typeface="Franklin Gothic Medium" panose="020B0603020102020204" pitchFamily="34" charset="0"/>
              </a:rPr>
              <a:t>up</a:t>
            </a:r>
            <a:endParaRPr lang="en-US" sz="2000" spc="-1" dirty="0">
              <a:latin typeface="Franklin Gothic Medium" panose="020B0603020102020204" pitchFamily="34" charset="0"/>
            </a:endParaRPr>
          </a:p>
        </p:txBody>
      </p:sp>
      <p:pic>
        <p:nvPicPr>
          <p:cNvPr id="198" name="Picture 132"/>
          <p:cNvPicPr/>
          <p:nvPr/>
        </p:nvPicPr>
        <p:blipFill>
          <a:blip r:embed="rId2"/>
          <a:stretch/>
        </p:blipFill>
        <p:spPr>
          <a:xfrm>
            <a:off x="1031249" y="3318108"/>
            <a:ext cx="2700578" cy="2700862"/>
          </a:xfrm>
          <a:prstGeom prst="rect">
            <a:avLst/>
          </a:prstGeom>
          <a:ln>
            <a:noFill/>
          </a:ln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20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  <p:pic>
        <p:nvPicPr>
          <p:cNvPr id="9" name="Picture 2" descr="The PhilTel payphone on a wall in Iffy Books. Shelves of books can be seen to the left and below the phone. A green shirt is hung on the wall next to it and a flier can be seen to the top right. To the right of the phone is the entrance door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169543"/>
            <a:ext cx="4775486" cy="3581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1896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>
                <a:solidFill>
                  <a:srgbClr val="333333"/>
                </a:solidFill>
                <a:latin typeface="Franklin Gothic Medium"/>
                <a:ea typeface="DejaVu Sans"/>
              </a:rPr>
              <a:t>People seemed to like it</a:t>
            </a:r>
            <a:endParaRPr lang="en-US" sz="3300" spc="-1" dirty="0">
              <a:latin typeface="Arial"/>
            </a:endParaRPr>
          </a:p>
        </p:txBody>
      </p:sp>
      <p:pic>
        <p:nvPicPr>
          <p:cNvPr id="201" name="Picture 135"/>
          <p:cNvPicPr/>
          <p:nvPr/>
        </p:nvPicPr>
        <p:blipFill>
          <a:blip r:embed="rId2"/>
          <a:stretch/>
        </p:blipFill>
        <p:spPr>
          <a:xfrm>
            <a:off x="5772119" y="1512417"/>
            <a:ext cx="3268124" cy="3547045"/>
          </a:xfrm>
          <a:prstGeom prst="rect">
            <a:avLst/>
          </a:prstGeom>
          <a:ln>
            <a:noFill/>
          </a:ln>
        </p:spPr>
      </p:pic>
      <p:pic>
        <p:nvPicPr>
          <p:cNvPr id="202" name="Picture 136"/>
          <p:cNvPicPr/>
          <p:nvPr/>
        </p:nvPicPr>
        <p:blipFill>
          <a:blip r:embed="rId3"/>
          <a:stretch/>
        </p:blipFill>
        <p:spPr>
          <a:xfrm>
            <a:off x="108741" y="1448080"/>
            <a:ext cx="2819443" cy="3835746"/>
          </a:xfrm>
          <a:prstGeom prst="rect">
            <a:avLst/>
          </a:prstGeom>
          <a:ln>
            <a:noFill/>
          </a:ln>
        </p:spPr>
      </p:pic>
      <p:pic>
        <p:nvPicPr>
          <p:cNvPr id="203" name="Picture 137"/>
          <p:cNvPicPr/>
          <p:nvPr/>
        </p:nvPicPr>
        <p:blipFill>
          <a:blip r:embed="rId4"/>
          <a:stretch/>
        </p:blipFill>
        <p:spPr>
          <a:xfrm>
            <a:off x="2888019" y="2176367"/>
            <a:ext cx="2917408" cy="3928823"/>
          </a:xfrm>
          <a:prstGeom prst="rect">
            <a:avLst/>
          </a:prstGeom>
          <a:ln>
            <a:noFill/>
          </a:ln>
        </p:spPr>
      </p:pic>
      <p:pic>
        <p:nvPicPr>
          <p:cNvPr id="204" name="Picture 138"/>
          <p:cNvPicPr/>
          <p:nvPr/>
        </p:nvPicPr>
        <p:blipFill>
          <a:blip r:embed="rId5"/>
          <a:stretch/>
        </p:blipFill>
        <p:spPr>
          <a:xfrm>
            <a:off x="414721" y="5391927"/>
            <a:ext cx="2155891" cy="707058"/>
          </a:xfrm>
          <a:prstGeom prst="rect">
            <a:avLst/>
          </a:prstGeom>
          <a:ln>
            <a:noFill/>
          </a:ln>
        </p:spPr>
      </p:pic>
      <p:pic>
        <p:nvPicPr>
          <p:cNvPr id="205" name="Picture 139"/>
          <p:cNvPicPr/>
          <p:nvPr/>
        </p:nvPicPr>
        <p:blipFill>
          <a:blip r:embed="rId6"/>
          <a:stretch/>
        </p:blipFill>
        <p:spPr>
          <a:xfrm>
            <a:off x="5971968" y="5214917"/>
            <a:ext cx="2995127" cy="674072"/>
          </a:xfrm>
          <a:prstGeom prst="rect">
            <a:avLst/>
          </a:prstGeom>
          <a:ln>
            <a:noFill/>
          </a:ln>
        </p:spPr>
      </p:pic>
      <p:pic>
        <p:nvPicPr>
          <p:cNvPr id="206" name="Picture 140"/>
          <p:cNvPicPr/>
          <p:nvPr/>
        </p:nvPicPr>
        <p:blipFill>
          <a:blip r:embed="rId7"/>
          <a:stretch/>
        </p:blipFill>
        <p:spPr>
          <a:xfrm>
            <a:off x="3530345" y="1493149"/>
            <a:ext cx="1445642" cy="427500"/>
          </a:xfrm>
          <a:prstGeom prst="rect">
            <a:avLst/>
          </a:prstGeom>
          <a:ln>
            <a:noFill/>
          </a:ln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21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985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A Second Phone</a:t>
            </a:r>
            <a:endParaRPr lang="en-US" sz="3300" spc="-1" dirty="0">
              <a:latin typeface="Arial"/>
            </a:endParaRPr>
          </a:p>
        </p:txBody>
      </p:sp>
      <p:sp>
        <p:nvSpPr>
          <p:cNvPr id="159" name="CustomShape 2"/>
          <p:cNvSpPr/>
          <p:nvPr/>
        </p:nvSpPr>
        <p:spPr>
          <a:xfrm>
            <a:off x="653103" y="1632927"/>
            <a:ext cx="7805097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22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  <p:pic>
        <p:nvPicPr>
          <p:cNvPr id="8" name="Picture 2" descr="https://philtel.org/assets/img/2025-04-06-update-on-our-next-phone/payphone-03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613" y="1229664"/>
            <a:ext cx="3277836" cy="4915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ttps://philtel.org/assets/img/2025-04-06-update-on-our-next-phone/payphone-04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229341"/>
            <a:ext cx="3276813" cy="4913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8856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What Did We Learn?</a:t>
            </a:r>
            <a:endParaRPr lang="en-US" sz="3300" spc="-1" dirty="0">
              <a:latin typeface="Arial"/>
            </a:endParaRPr>
          </a:p>
        </p:txBody>
      </p:sp>
      <p:sp>
        <p:nvSpPr>
          <p:cNvPr id="159" name="CustomShape 2"/>
          <p:cNvSpPr/>
          <p:nvPr/>
        </p:nvSpPr>
        <p:spPr>
          <a:xfrm>
            <a:off x="653103" y="1632927"/>
            <a:ext cx="7805097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>
              <a:latin typeface="Franklin Gothic Medium" panose="020B060302010202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23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  <p:pic>
        <p:nvPicPr>
          <p:cNvPr id="4098" name="Picture 2" descr="r/conan - I just noticed that the mug that the &quot;I Have No Idea What I'm Doing&quot; dog is using is Conan's mug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843126"/>
            <a:ext cx="6096000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9048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What Did We Learn?</a:t>
            </a:r>
            <a:endParaRPr lang="en-US" sz="3300" spc="-1" dirty="0">
              <a:latin typeface="Arial"/>
            </a:endParaRPr>
          </a:p>
        </p:txBody>
      </p:sp>
      <p:sp>
        <p:nvSpPr>
          <p:cNvPr id="159" name="CustomShape 2"/>
          <p:cNvSpPr/>
          <p:nvPr/>
        </p:nvSpPr>
        <p:spPr>
          <a:xfrm>
            <a:off x="653103" y="1632927"/>
            <a:ext cx="7805097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VPNing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 the ATA can work, but SIPS/SRTP works better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latin typeface="Franklin Gothic Medium" panose="020B0603020102020204" pitchFamily="34" charset="0"/>
              </a:rPr>
              <a:t>ISPs can block or traffic-shape VPN traffic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latin typeface="Franklin Gothic Medium" panose="020B0603020102020204" pitchFamily="34" charset="0"/>
              </a:rPr>
              <a:t>VPN means…</a:t>
            </a:r>
          </a:p>
          <a:p>
            <a:pPr marL="1306226" lvl="2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latin typeface="Franklin Gothic Medium" panose="020B0603020102020204" pitchFamily="34" charset="0"/>
              </a:rPr>
              <a:t>M</a:t>
            </a:r>
            <a:r>
              <a:rPr lang="en-US" sz="2000" spc="-1" dirty="0" smtClean="0">
                <a:latin typeface="Franklin Gothic Medium" panose="020B0603020102020204" pitchFamily="34" charset="0"/>
              </a:rPr>
              <a:t>ore interoperability challenges </a:t>
            </a:r>
          </a:p>
          <a:p>
            <a:pPr marL="1306226" lvl="2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latin typeface="Franklin Gothic Medium" panose="020B0603020102020204" pitchFamily="34" charset="0"/>
              </a:rPr>
              <a:t>M</a:t>
            </a:r>
            <a:r>
              <a:rPr lang="en-US" sz="2000" spc="-1" dirty="0" smtClean="0">
                <a:latin typeface="Franklin Gothic Medium" panose="020B0603020102020204" pitchFamily="34" charset="0"/>
              </a:rPr>
              <a:t>ore latency</a:t>
            </a:r>
          </a:p>
          <a:p>
            <a:pPr marL="1306226" lvl="2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latin typeface="Franklin Gothic Medium" panose="020B0603020102020204" pitchFamily="34" charset="0"/>
              </a:rPr>
              <a:t>More maintenance (expiring certificates)</a:t>
            </a:r>
            <a:endParaRPr lang="en-US" sz="2000" spc="-1" dirty="0">
              <a:latin typeface="Franklin Gothic Medium" panose="020B060302010202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24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280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What Did We Learn?</a:t>
            </a:r>
            <a:endParaRPr lang="en-US" sz="3300" spc="-1" dirty="0">
              <a:latin typeface="Arial"/>
            </a:endParaRPr>
          </a:p>
        </p:txBody>
      </p:sp>
      <p:sp>
        <p:nvSpPr>
          <p:cNvPr id="159" name="CustomShape 2"/>
          <p:cNvSpPr/>
          <p:nvPr/>
        </p:nvSpPr>
        <p:spPr>
          <a:xfrm>
            <a:off x="653103" y="1632927"/>
            <a:ext cx="7805097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Less hardware is better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Originally tried to run everything through a small router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More cost/maintenance when not needed for all installations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Hardware limitations for </a:t>
            </a:r>
            <a:r>
              <a:rPr lang="en-US" sz="2000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WiFi</a:t>
            </a:r>
            <a:endParaRPr lang="en-US" sz="2000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25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  <p:pic>
        <p:nvPicPr>
          <p:cNvPr id="7" name="Picture 124"/>
          <p:cNvPicPr/>
          <p:nvPr/>
        </p:nvPicPr>
        <p:blipFill>
          <a:blip r:embed="rId2"/>
          <a:stretch/>
        </p:blipFill>
        <p:spPr>
          <a:xfrm>
            <a:off x="5505091" y="3276600"/>
            <a:ext cx="2971800" cy="2667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47696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What Did We Learn?</a:t>
            </a:r>
            <a:endParaRPr lang="en-US" sz="3300" spc="-1" dirty="0">
              <a:latin typeface="Arial"/>
            </a:endParaRPr>
          </a:p>
        </p:txBody>
      </p:sp>
      <p:sp>
        <p:nvSpPr>
          <p:cNvPr id="159" name="CustomShape 2"/>
          <p:cNvSpPr/>
          <p:nvPr/>
        </p:nvSpPr>
        <p:spPr>
          <a:xfrm>
            <a:off x="653103" y="1632927"/>
            <a:ext cx="7805097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ATAs work until they don’t, and most aren’t great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Grandstream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 ATAs are still the best we know of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Plagued with firmware issues for V1s initially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We have had 2 die on one phone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One died during a demo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V2 ATAs have been nothing but trouble</a:t>
            </a:r>
            <a:endParaRPr lang="en-US" sz="20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26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  <p:pic>
        <p:nvPicPr>
          <p:cNvPr id="1026" name="Picture 2" descr="Grandstream HT801-V2 ATA 1 FXS Port VoIP Adapter SIP T.38 Fax Secure Auto  Provision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3255034"/>
            <a:ext cx="28956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8349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What Did We Learn?</a:t>
            </a:r>
            <a:endParaRPr lang="en-US" sz="3300" spc="-1" dirty="0">
              <a:latin typeface="Arial"/>
            </a:endParaRPr>
          </a:p>
        </p:txBody>
      </p:sp>
      <p:sp>
        <p:nvSpPr>
          <p:cNvPr id="159" name="CustomShape 2"/>
          <p:cNvSpPr/>
          <p:nvPr/>
        </p:nvSpPr>
        <p:spPr>
          <a:xfrm>
            <a:off x="653103" y="1632927"/>
            <a:ext cx="7805097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People will try their best to ruin a good thing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latin typeface="Franklin Gothic Medium" panose="020B0603020102020204" pitchFamily="34" charset="0"/>
              </a:rPr>
              <a:t>Repeated vandalism on the 2</a:t>
            </a:r>
            <a:r>
              <a:rPr lang="en-US" sz="2000" spc="-1" baseline="30000" dirty="0" smtClean="0">
                <a:latin typeface="Franklin Gothic Medium" panose="020B0603020102020204" pitchFamily="34" charset="0"/>
              </a:rPr>
              <a:t>nd</a:t>
            </a:r>
            <a:r>
              <a:rPr lang="en-US" sz="2000" spc="-1" dirty="0" smtClean="0">
                <a:latin typeface="Franklin Gothic Medium" panose="020B0603020102020204" pitchFamily="34" charset="0"/>
              </a:rPr>
              <a:t> phone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latin typeface="Franklin Gothic Medium" panose="020B0603020102020204" pitchFamily="34" charset="0"/>
              </a:rPr>
              <a:t>Don’t prank call 911</a:t>
            </a:r>
          </a:p>
          <a:p>
            <a:pPr marL="1306226" lvl="2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latin typeface="Franklin Gothic Medium" panose="020B0603020102020204" pitchFamily="34" charset="0"/>
              </a:rPr>
              <a:t>Have a demo mode for exhibits 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latin typeface="Franklin Gothic Medium" panose="020B0603020102020204" pitchFamily="34" charset="0"/>
              </a:rPr>
              <a:t>There are good people too!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 smtClean="0">
              <a:latin typeface="Franklin Gothic Medium" panose="020B0603020102020204" pitchFamily="34" charset="0"/>
            </a:endParaRP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>
              <a:latin typeface="Franklin Gothic Medium" panose="020B060302010202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27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808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What Did We Learn?</a:t>
            </a:r>
            <a:endParaRPr lang="en-US" sz="3300" spc="-1" dirty="0">
              <a:latin typeface="Arial"/>
            </a:endParaRPr>
          </a:p>
        </p:txBody>
      </p:sp>
      <p:sp>
        <p:nvSpPr>
          <p:cNvPr id="159" name="CustomShape 2"/>
          <p:cNvSpPr/>
          <p:nvPr/>
        </p:nvSpPr>
        <p:spPr>
          <a:xfrm>
            <a:off x="653103" y="1632927"/>
            <a:ext cx="7805097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Some parts are often meant to be replaced, not repaired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Don’t spend all your time trying to fix something that doesn’t want to be fixed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You may not be able to trust it</a:t>
            </a:r>
          </a:p>
          <a:p>
            <a:pPr marL="98610">
              <a:spcAft>
                <a:spcPts val="1005"/>
              </a:spcAft>
              <a:buClr>
                <a:srgbClr val="EF2929"/>
              </a:buClr>
              <a:buSzPct val="45000"/>
            </a:pPr>
            <a:endParaRPr lang="en-US" sz="20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28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  <p:pic>
        <p:nvPicPr>
          <p:cNvPr id="2050" name="Picture 2" descr="https://payphone.com/images/product/ModularHandset-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895600"/>
            <a:ext cx="3276600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3762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What Did We Learn?</a:t>
            </a:r>
            <a:endParaRPr lang="en-US" sz="3300" spc="-1" dirty="0">
              <a:latin typeface="Arial"/>
            </a:endParaRPr>
          </a:p>
        </p:txBody>
      </p:sp>
      <p:sp>
        <p:nvSpPr>
          <p:cNvPr id="159" name="CustomShape 2"/>
          <p:cNvSpPr/>
          <p:nvPr/>
        </p:nvSpPr>
        <p:spPr>
          <a:xfrm>
            <a:off x="653103" y="1632927"/>
            <a:ext cx="7805097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Accidents happen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This is a marathon, not a sprint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29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  <p:pic>
        <p:nvPicPr>
          <p:cNvPr id="3074" name="Picture 2" descr="https://philtel.org/assets/img/2025-10-24-closing-in-on-the-next%20phone/booth-6-s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2667000"/>
            <a:ext cx="5132577" cy="3424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5722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What Did We Learn?</a:t>
            </a:r>
            <a:endParaRPr lang="en-US" sz="3300" spc="-1" dirty="0">
              <a:latin typeface="Arial"/>
            </a:endParaRPr>
          </a:p>
        </p:txBody>
      </p:sp>
      <p:sp>
        <p:nvSpPr>
          <p:cNvPr id="159" name="CustomShape 2"/>
          <p:cNvSpPr/>
          <p:nvPr/>
        </p:nvSpPr>
        <p:spPr>
          <a:xfrm>
            <a:off x="653103" y="1632927"/>
            <a:ext cx="7805097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30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362" y="1371600"/>
            <a:ext cx="5105400" cy="4761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3321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What Did We Learn?</a:t>
            </a:r>
            <a:endParaRPr lang="en-US" sz="3300" spc="-1" dirty="0">
              <a:latin typeface="Arial"/>
            </a:endParaRPr>
          </a:p>
        </p:txBody>
      </p:sp>
      <p:sp>
        <p:nvSpPr>
          <p:cNvPr id="159" name="CustomShape 2"/>
          <p:cNvSpPr/>
          <p:nvPr/>
        </p:nvSpPr>
        <p:spPr>
          <a:xfrm>
            <a:off x="653103" y="1632927"/>
            <a:ext cx="7805097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People love to play with and are nostalgic for payphones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31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  <p:pic>
        <p:nvPicPr>
          <p:cNvPr id="6146" name="Picture 2" descr="The front of the booth featuring 7 payphones and 2 TDD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7712" y="2209800"/>
            <a:ext cx="5202959" cy="3902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2820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What Did We Learn?</a:t>
            </a:r>
            <a:endParaRPr lang="en-US" sz="3300" spc="-1" dirty="0">
              <a:latin typeface="Arial"/>
            </a:endParaRPr>
          </a:p>
        </p:txBody>
      </p:sp>
      <p:sp>
        <p:nvSpPr>
          <p:cNvPr id="159" name="CustomShape 2"/>
          <p:cNvSpPr/>
          <p:nvPr/>
        </p:nvSpPr>
        <p:spPr>
          <a:xfrm>
            <a:off x="653103" y="1632927"/>
            <a:ext cx="7805097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Write everything down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Good documentation shows your work is reproducible (and helps those starting out)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You’ll use it yourself when you forget in a few months</a:t>
            </a:r>
          </a:p>
          <a:p>
            <a:pPr marL="849026" lvl="1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We keep a lot of documentation</a:t>
            </a:r>
          </a:p>
          <a:p>
            <a:pPr marL="1306226" lvl="2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  <a:hlinkClick r:id="rId2"/>
              </a:rPr>
              <a:t>https://philtel.org/</a:t>
            </a:r>
            <a:endParaRPr lang="en-US" sz="20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  <a:p>
            <a:pPr marL="1306226" lvl="2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  <a:hlinkClick r:id="rId3"/>
              </a:rPr>
              <a:t>https://github.com/philtelco/philtel-docs</a:t>
            </a:r>
            <a:endParaRPr lang="en-US" sz="20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  <a:p>
            <a:pPr marL="1306226" lvl="2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  <a:hlinkClick r:id="rId4"/>
              </a:rPr>
              <a:t>https://payphone.club/</a:t>
            </a: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 (work in progress)</a:t>
            </a: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0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32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611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What Did We Learn?</a:t>
            </a:r>
            <a:endParaRPr lang="en-US" sz="3300" spc="-1" dirty="0">
              <a:latin typeface="Arial"/>
            </a:endParaRPr>
          </a:p>
        </p:txBody>
      </p:sp>
      <p:sp>
        <p:nvSpPr>
          <p:cNvPr id="159" name="CustomShape 2"/>
          <p:cNvSpPr/>
          <p:nvPr/>
        </p:nvSpPr>
        <p:spPr>
          <a:xfrm>
            <a:off x="653103" y="1632927"/>
            <a:ext cx="7805097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Community is everything</a:t>
            </a:r>
          </a:p>
          <a:p>
            <a:pPr marL="98610">
              <a:spcAft>
                <a:spcPts val="1005"/>
              </a:spcAft>
              <a:buClr>
                <a:srgbClr val="EF2929"/>
              </a:buClr>
              <a:buSzPct val="45000"/>
            </a:pPr>
            <a:endParaRPr lang="en-US" sz="20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33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592" y="2438400"/>
            <a:ext cx="4165600" cy="3124200"/>
          </a:xfrm>
          <a:prstGeom prst="rect">
            <a:avLst/>
          </a:prstGeom>
        </p:spPr>
      </p:pic>
      <p:pic>
        <p:nvPicPr>
          <p:cNvPr id="8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1083856"/>
            <a:ext cx="3806474" cy="507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229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What Did We Learn?</a:t>
            </a:r>
            <a:endParaRPr lang="en-US" sz="3300" spc="-1" dirty="0">
              <a:latin typeface="Arial"/>
            </a:endParaRPr>
          </a:p>
        </p:txBody>
      </p:sp>
      <p:sp>
        <p:nvSpPr>
          <p:cNvPr id="159" name="CustomShape 2"/>
          <p:cNvSpPr/>
          <p:nvPr/>
        </p:nvSpPr>
        <p:spPr>
          <a:xfrm>
            <a:off x="653103" y="1632927"/>
            <a:ext cx="7805097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Don’t let someone tell you something is impossible</a:t>
            </a:r>
          </a:p>
          <a:p>
            <a:pPr marL="98610">
              <a:spcAft>
                <a:spcPts val="1005"/>
              </a:spcAft>
              <a:buClr>
                <a:srgbClr val="EF2929"/>
              </a:buClr>
              <a:buSzPct val="45000"/>
            </a:pPr>
            <a:endParaRPr lang="en-US" sz="20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34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  <p:pic>
        <p:nvPicPr>
          <p:cNvPr id="9" name="Picture 144"/>
          <p:cNvPicPr/>
          <p:nvPr/>
        </p:nvPicPr>
        <p:blipFill>
          <a:blip r:embed="rId2"/>
          <a:stretch/>
        </p:blipFill>
        <p:spPr>
          <a:xfrm>
            <a:off x="1447792" y="2165079"/>
            <a:ext cx="6442799" cy="391636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7525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CustomShape 1"/>
          <p:cNvSpPr/>
          <p:nvPr/>
        </p:nvSpPr>
        <p:spPr>
          <a:xfrm>
            <a:off x="653103" y="591452"/>
            <a:ext cx="8032179" cy="507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300" b="1" spc="-1">
                <a:solidFill>
                  <a:srgbClr val="333333"/>
                </a:solidFill>
                <a:latin typeface="Franklin Gothic Medium"/>
                <a:ea typeface="DejaVu Sans"/>
              </a:rPr>
              <a:t>Questions?</a:t>
            </a:r>
            <a:endParaRPr lang="en-US" sz="3300" spc="-1">
              <a:latin typeface="Arial"/>
            </a:endParaRPr>
          </a:p>
        </p:txBody>
      </p:sp>
      <p:sp>
        <p:nvSpPr>
          <p:cNvPr id="212" name="CustomShape 2"/>
          <p:cNvSpPr/>
          <p:nvPr/>
        </p:nvSpPr>
        <p:spPr>
          <a:xfrm>
            <a:off x="580608" y="1493149"/>
            <a:ext cx="4063929" cy="44435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spcAft>
                <a:spcPts val="1005"/>
              </a:spcAft>
            </a:pPr>
            <a:r>
              <a:rPr lang="en-US" sz="2000" b="1" spc="-1" dirty="0">
                <a:solidFill>
                  <a:srgbClr val="333333"/>
                </a:solidFill>
                <a:latin typeface="Franklin Gothic Book"/>
                <a:ea typeface="DejaVu Sans"/>
              </a:rPr>
              <a:t>Mike</a:t>
            </a:r>
            <a:endParaRPr lang="en-US" sz="2000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b="1" u="sng" spc="-1" dirty="0">
                <a:solidFill>
                  <a:srgbClr val="0000FF"/>
                </a:solidFill>
                <a:latin typeface="Franklin Gothic Book"/>
                <a:ea typeface="DejaVu Sans"/>
                <a:hlinkClick r:id="rId2"/>
              </a:rPr>
              <a:t>mike@philtel.org</a:t>
            </a:r>
            <a:r>
              <a:rPr lang="en-US" b="1" spc="-1" dirty="0">
                <a:solidFill>
                  <a:srgbClr val="333333"/>
                </a:solidFill>
                <a:latin typeface="Franklin Gothic Book"/>
                <a:ea typeface="DejaVu Sans"/>
              </a:rPr>
              <a:t> </a:t>
            </a:r>
            <a:endParaRPr lang="en-US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b="1" spc="-1" dirty="0" err="1">
                <a:solidFill>
                  <a:srgbClr val="333333"/>
                </a:solidFill>
                <a:latin typeface="Franklin Gothic Book"/>
                <a:ea typeface="DejaVu Sans"/>
              </a:rPr>
              <a:t>Famicoman</a:t>
            </a:r>
            <a:r>
              <a:rPr lang="en-US" b="1" spc="-1" dirty="0">
                <a:solidFill>
                  <a:srgbClr val="333333"/>
                </a:solidFill>
                <a:latin typeface="Franklin Gothic Book"/>
                <a:ea typeface="DejaVu Sans"/>
              </a:rPr>
              <a:t> (</a:t>
            </a:r>
            <a:r>
              <a:rPr lang="en-US" b="1" spc="-1" dirty="0" err="1">
                <a:solidFill>
                  <a:srgbClr val="333333"/>
                </a:solidFill>
                <a:latin typeface="Franklin Gothic Book"/>
                <a:ea typeface="DejaVu Sans"/>
              </a:rPr>
              <a:t>Libera</a:t>
            </a:r>
            <a:r>
              <a:rPr lang="en-US" b="1" spc="-1" dirty="0">
                <a:solidFill>
                  <a:srgbClr val="333333"/>
                </a:solidFill>
                <a:latin typeface="Franklin Gothic Book"/>
                <a:ea typeface="DejaVu Sans"/>
              </a:rPr>
              <a:t> IRC)</a:t>
            </a:r>
            <a:endParaRPr lang="en-US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b="1" u="sng" spc="-1" dirty="0">
                <a:solidFill>
                  <a:srgbClr val="0000FF"/>
                </a:solidFill>
                <a:latin typeface="Franklin Gothic Book"/>
                <a:ea typeface="DejaVu Sans"/>
                <a:hlinkClick r:id="rId3"/>
              </a:rPr>
              <a:t>https://famicoman.com</a:t>
            </a:r>
            <a:r>
              <a:rPr lang="en-US" b="1" spc="-1" dirty="0">
                <a:solidFill>
                  <a:srgbClr val="333333"/>
                </a:solidFill>
                <a:latin typeface="Franklin Gothic Book"/>
                <a:ea typeface="DejaVu Sans"/>
              </a:rPr>
              <a:t> </a:t>
            </a:r>
            <a:endParaRPr lang="en-US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b="1" u="sng" spc="-1" dirty="0">
                <a:solidFill>
                  <a:srgbClr val="0000FF"/>
                </a:solidFill>
                <a:latin typeface="Franklin Gothic Book"/>
                <a:ea typeface="DejaVu Sans"/>
                <a:hlinkClick r:id="rId4"/>
              </a:rPr>
              <a:t>https://github.com/Famicoman</a:t>
            </a:r>
            <a:r>
              <a:rPr lang="en-US" b="1" spc="-1" dirty="0">
                <a:solidFill>
                  <a:srgbClr val="000000"/>
                </a:solidFill>
                <a:latin typeface="Franklin Gothic Book"/>
                <a:ea typeface="DejaVu Sans"/>
              </a:rPr>
              <a:t> </a:t>
            </a:r>
            <a:endParaRPr lang="en-US" spc="-1" dirty="0">
              <a:latin typeface="Arial"/>
            </a:endParaRPr>
          </a:p>
        </p:txBody>
      </p:sp>
      <p:sp>
        <p:nvSpPr>
          <p:cNvPr id="213" name="CustomShape 3"/>
          <p:cNvSpPr/>
          <p:nvPr/>
        </p:nvSpPr>
        <p:spPr>
          <a:xfrm>
            <a:off x="4810752" y="1493149"/>
            <a:ext cx="4063929" cy="44435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spcAft>
                <a:spcPts val="1005"/>
              </a:spcAft>
            </a:pPr>
            <a:r>
              <a:rPr lang="en-US" sz="2000" b="1" spc="-1" dirty="0">
                <a:solidFill>
                  <a:srgbClr val="333333"/>
                </a:solidFill>
                <a:latin typeface="Franklin Gothic Book"/>
                <a:ea typeface="DejaVu Sans"/>
              </a:rPr>
              <a:t>Naveen</a:t>
            </a:r>
            <a:endParaRPr lang="en-US" sz="2000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b="1" u="sng" spc="-1" dirty="0">
                <a:solidFill>
                  <a:srgbClr val="0000FF"/>
                </a:solidFill>
                <a:latin typeface="Franklin Gothic Book"/>
                <a:ea typeface="DejaVu Sans"/>
                <a:hlinkClick r:id="rId5"/>
              </a:rPr>
              <a:t>interlinked@philtel.org</a:t>
            </a:r>
            <a:endParaRPr lang="en-US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b="1" spc="-1" dirty="0" err="1">
                <a:solidFill>
                  <a:srgbClr val="333333"/>
                </a:solidFill>
                <a:latin typeface="Franklin Gothic Book"/>
                <a:ea typeface="DejaVu Sans"/>
              </a:rPr>
              <a:t>InterLinked</a:t>
            </a:r>
            <a:r>
              <a:rPr lang="en-US" b="1" spc="-1" dirty="0">
                <a:solidFill>
                  <a:srgbClr val="333333"/>
                </a:solidFill>
                <a:latin typeface="Franklin Gothic Book"/>
                <a:ea typeface="DejaVu Sans"/>
              </a:rPr>
              <a:t> (</a:t>
            </a:r>
            <a:r>
              <a:rPr lang="en-US" b="1" spc="-1" dirty="0" err="1">
                <a:solidFill>
                  <a:srgbClr val="333333"/>
                </a:solidFill>
                <a:latin typeface="Franklin Gothic Book"/>
                <a:ea typeface="DejaVu Sans"/>
              </a:rPr>
              <a:t>Libera</a:t>
            </a:r>
            <a:r>
              <a:rPr lang="en-US" b="1" spc="-1" dirty="0">
                <a:solidFill>
                  <a:srgbClr val="333333"/>
                </a:solidFill>
                <a:latin typeface="Franklin Gothic Book"/>
                <a:ea typeface="DejaVu Sans"/>
              </a:rPr>
              <a:t> IRC)</a:t>
            </a:r>
            <a:endParaRPr lang="en-US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b="1" u="sng" spc="-1" dirty="0">
                <a:solidFill>
                  <a:srgbClr val="0000FF"/>
                </a:solidFill>
                <a:latin typeface="Franklin Gothic Book"/>
                <a:ea typeface="DejaVu Sans"/>
                <a:hlinkClick r:id="rId6"/>
              </a:rPr>
              <a:t>https://interlinked.us</a:t>
            </a:r>
            <a:r>
              <a:rPr lang="en-US" b="1" spc="-1" dirty="0">
                <a:solidFill>
                  <a:srgbClr val="333333"/>
                </a:solidFill>
                <a:latin typeface="Franklin Gothic Book"/>
                <a:ea typeface="DejaVu Sans"/>
              </a:rPr>
              <a:t> </a:t>
            </a:r>
            <a:endParaRPr lang="en-US" spc="-1" dirty="0">
              <a:latin typeface="Arial"/>
            </a:endParaRPr>
          </a:p>
          <a:p>
            <a:pPr marL="391826" indent="-293216">
              <a:spcAft>
                <a:spcPts val="100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b="1" u="sng" spc="-1" dirty="0">
                <a:solidFill>
                  <a:srgbClr val="0000FF"/>
                </a:solidFill>
                <a:latin typeface="Franklin Gothic Book"/>
                <a:ea typeface="DejaVu Sans"/>
                <a:hlinkClick r:id="rId7"/>
              </a:rPr>
              <a:t>https://github.com/InterLinked1</a:t>
            </a:r>
            <a:r>
              <a:rPr lang="en-US" b="1" spc="-1" dirty="0">
                <a:solidFill>
                  <a:srgbClr val="000000"/>
                </a:solidFill>
                <a:latin typeface="Franklin Gothic Book"/>
                <a:ea typeface="DejaVu Sans"/>
              </a:rPr>
              <a:t> </a:t>
            </a:r>
            <a:endParaRPr lang="en-US" spc="-1" dirty="0">
              <a:latin typeface="Arial"/>
            </a:endParaRPr>
          </a:p>
        </p:txBody>
      </p:sp>
      <p:sp>
        <p:nvSpPr>
          <p:cNvPr id="5" name="CustomShape 2"/>
          <p:cNvSpPr/>
          <p:nvPr/>
        </p:nvSpPr>
        <p:spPr>
          <a:xfrm>
            <a:off x="424800" y="3888095"/>
            <a:ext cx="8260482" cy="222176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algn="ctr">
              <a:spcAft>
                <a:spcPts val="1005"/>
              </a:spcAft>
            </a:pPr>
            <a:endParaRPr lang="en-US" sz="2200" spc="-1" dirty="0">
              <a:latin typeface="Franklin Gothic Medium" panose="020B0603020102020204" pitchFamily="34" charset="0"/>
              <a:hlinkClick r:id="rId8"/>
            </a:endParaRPr>
          </a:p>
          <a:p>
            <a:pPr algn="ctr">
              <a:spcAft>
                <a:spcPts val="1005"/>
              </a:spcAft>
            </a:pPr>
            <a:r>
              <a:rPr lang="en-US" sz="2200" spc="-1" dirty="0">
                <a:latin typeface="Franklin Gothic Medium" panose="020B0603020102020204" pitchFamily="34" charset="0"/>
                <a:hlinkClick r:id="rId8"/>
              </a:rPr>
              <a:t>https</a:t>
            </a:r>
            <a:r>
              <a:rPr lang="en-US" sz="2200" spc="-1" dirty="0">
                <a:latin typeface="Franklin Gothic Medium" panose="020B0603020102020204" pitchFamily="34" charset="0"/>
                <a:hlinkClick r:id="rId8"/>
              </a:rPr>
              <a:t>://philtel.org/contact</a:t>
            </a:r>
            <a:r>
              <a:rPr lang="en-US" sz="2200" spc="-1" dirty="0">
                <a:latin typeface="Franklin Gothic Medium" panose="020B0603020102020204" pitchFamily="34" charset="0"/>
                <a:hlinkClick r:id="rId8"/>
              </a:rPr>
              <a:t>/</a:t>
            </a:r>
            <a:endParaRPr lang="en-US" sz="2200" spc="-1" dirty="0">
              <a:latin typeface="Franklin Gothic Medium" panose="020B0603020102020204" pitchFamily="34" charset="0"/>
            </a:endParaRPr>
          </a:p>
          <a:p>
            <a:pPr algn="ctr">
              <a:spcAft>
                <a:spcPts val="1005"/>
              </a:spcAft>
            </a:pPr>
            <a:r>
              <a:rPr lang="en-US" sz="2200" spc="-1" dirty="0">
                <a:latin typeface="Franklin Gothic Medium" panose="020B0603020102020204" pitchFamily="34" charset="0"/>
                <a:hlinkClick r:id="rId9"/>
              </a:rPr>
              <a:t>https://philtel.org/donate</a:t>
            </a:r>
            <a:r>
              <a:rPr lang="en-US" sz="2200" spc="-1" dirty="0">
                <a:latin typeface="Franklin Gothic Medium" panose="020B0603020102020204" pitchFamily="34" charset="0"/>
                <a:hlinkClick r:id="rId9"/>
              </a:rPr>
              <a:t>/</a:t>
            </a:r>
            <a:endParaRPr lang="en-US" sz="2200" spc="-1" dirty="0">
              <a:latin typeface="Franklin Gothic Medium" panose="020B0603020102020204" pitchFamily="34" charset="0"/>
            </a:endParaRPr>
          </a:p>
          <a:p>
            <a:pPr algn="ctr">
              <a:spcAft>
                <a:spcPts val="1005"/>
              </a:spcAft>
            </a:pPr>
            <a:r>
              <a:rPr lang="en-US" sz="2200" spc="-1" dirty="0">
                <a:latin typeface="Franklin Gothic Medium" panose="020B0603020102020204" pitchFamily="34" charset="0"/>
                <a:hlinkClick r:id="rId10"/>
              </a:rPr>
              <a:t>https://</a:t>
            </a:r>
            <a:r>
              <a:rPr lang="en-US" sz="2200" spc="-1" dirty="0">
                <a:latin typeface="Franklin Gothic Medium" panose="020B0603020102020204" pitchFamily="34" charset="0"/>
                <a:hlinkClick r:id="rId10"/>
              </a:rPr>
              <a:t>github.com/philtelco/philtel-presentations/</a:t>
            </a:r>
            <a:endParaRPr lang="en-US" sz="2200" spc="-1" dirty="0">
              <a:latin typeface="Franklin Gothic Medium" panose="020B0603020102020204" pitchFamily="34" charset="0"/>
            </a:endParaRPr>
          </a:p>
          <a:p>
            <a:pPr algn="ctr">
              <a:spcAft>
                <a:spcPts val="1005"/>
              </a:spcAft>
            </a:pPr>
            <a:endParaRPr lang="en-US" sz="2900" spc="-1" dirty="0">
              <a:latin typeface="Franklin Gothic Medium" panose="020B0603020102020204" pitchFamily="34" charset="0"/>
            </a:endParaRPr>
          </a:p>
          <a:p>
            <a:pPr algn="ctr">
              <a:spcAft>
                <a:spcPts val="1005"/>
              </a:spcAft>
            </a:pPr>
            <a:endParaRPr lang="en-US" sz="2900" spc="-1" dirty="0">
              <a:latin typeface="Franklin Gothic Medium" panose="020B060302010202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35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PhoneCon - 2026-07-25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924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21627</TotalTime>
  <Words>1096</Words>
  <Application>Microsoft Office PowerPoint</Application>
  <PresentationFormat>On-screen Show (4:3)</PresentationFormat>
  <Paragraphs>258</Paragraphs>
  <Slides>35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Office Theme</vt:lpstr>
      <vt:lpstr>Freephones - A look at free-to-use payphone projects via PhilTel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Freephones - A look at free-to-use payphone projects via PhilTel</dc:title>
  <dc:creator>Mike</dc:creator>
  <cp:lastModifiedBy>Mike</cp:lastModifiedBy>
  <cp:revision>14</cp:revision>
  <dcterms:created xsi:type="dcterms:W3CDTF">2026-07-07T01:47:20Z</dcterms:created>
  <dcterms:modified xsi:type="dcterms:W3CDTF">2026-07-22T02:14:58Z</dcterms:modified>
</cp:coreProperties>
</file>